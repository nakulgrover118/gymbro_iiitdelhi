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8653e9c-292c-1302-ce52-2bc66c87af07}">
          <p14:sldIdLst>
            <p14:sldId id="256"/>
            <p14:sldId id="257"/>
            <p14:sldId id="258"/>
          </p14:sldIdLst>
        </p14:section>
        <p14:section name="Solution" id="{647ce70d-df03-b408-c88e-d82660459baf}">
          <p14:sldIdLst>
            <p14:sldId id="259"/>
            <p14:sldId id="260"/>
            <p14:sldId id="261"/>
            <p14:sldId id="262"/>
            <p14:sldId id="263"/>
          </p14:sldIdLst>
        </p14:section>
        <p14:section name="Results" id="{72ad802c-cfa8-ddb4-915e-2ef65a2b0a83}">
          <p14:sldIdLst>
            <p14:sldId id="264"/>
            <p14:sldId id="265"/>
            <p14:sldId id="266"/>
            <p14:sldId id="267"/>
          </p14:sldIdLst>
        </p14:section>
        <p14:section name="Prototype" id="{1262d990-775b-3435-538a-503503c53eaa}">
          <p14:sldIdLst>
            <p14:sldId id="268"/>
            <p14:sldId id="269"/>
            <p14:sldId id="270"/>
          </p14:sldIdLst>
        </p14:section>
        <p14:section name="Responsible AI &amp; next steps" id="{2a831c9b-41cd-c294-a267-d44c7b4971f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94 features per time point, by data stream</a:t>
            </a:r>
          </a:p>
        </c:rich>
      </c:tx>
      <c:layout/>
      <c:overlay val="0"/>
    </c:title>
    <c:autoTitleDeleted val="0"/>
    <c:plotArea>
      <c:layout/>
      <c:barChart>
        <c:barDir val="bar"/>
        <c:grouping val="clustered"/>
        <c:varyColors val="0"/>
        <c:ser>
          <c:idx val="0"/>
          <c:order val="0"/>
          <c:tx>
            <c:strRef>
              <c:f>Sheet1!$B$1</c:f>
              <c:strCache>
                <c:ptCount val="1"/>
                <c:pt idx="0">
                  <c:v>features</c:v>
                </c:pt>
              </c:strCache>
            </c:strRef>
          </c:tx>
          <c:spPr>
            <a:solidFill>
              <a:srgbClr val="0F766E"/>
            </a:solidFill>
            <a:effectLst/>
          </c:spPr>
          <c:invertIfNegative val="0"/>
          <c:dLbls>
            <c:numFmt formatCode="#,##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2563EB"/>
              </a:solidFill>
              <a:effectLst/>
            </c:spPr>
          </c:dPt>
          <c:dPt>
            <c:idx val="2"/>
            <c:invertIfNegative val="0"/>
            <c:bubble3D val="0"/>
            <c:spPr>
              <a:solidFill>
                <a:srgbClr val="334155"/>
              </a:solidFill>
              <a:effectLst/>
            </c:spPr>
          </c:dPt>
          <c:dPt>
            <c:idx val="3"/>
            <c:invertIfNegative val="0"/>
            <c:bubble3D val="0"/>
            <c:spPr>
              <a:solidFill>
                <a:srgbClr val="7C3AED"/>
              </a:solidFill>
              <a:effectLst/>
            </c:spPr>
          </c:dPt>
          <c:dPt>
            <c:idx val="4"/>
            <c:invertIfNegative val="0"/>
            <c:bubble3D val="0"/>
            <c:spPr>
              <a:solidFill>
                <a:srgbClr val="D97706"/>
              </a:solidFill>
              <a:effectLst/>
            </c:spPr>
          </c:dPt>
          <c:cat>
            <c:multiLvlStrRef>
              <c:f>Sheet1!$A$2:$A$6</c:f>
              <c:multiLvlStrCache>
                <c:ptCount val="5"/>
                <c:lvl>
                  <c:pt idx="0">
                    <c:v>Twin simulation</c:v>
                  </c:pt>
                  <c:pt idx="1">
                    <c:v>EHR</c:v>
                  </c:pt>
                  <c:pt idx="2">
                    <c:v>CGM history</c:v>
                  </c:pt>
                  <c:pt idx="3">
                    <c:v>Wearables</c:v>
                  </c:pt>
                  <c:pt idx="4">
                    <c:v>Meal &amp; medicine logs</c:v>
                  </c:pt>
                </c:lvl>
              </c:multiLvlStrCache>
            </c:multiLvlStrRef>
          </c:cat>
          <c:val>
            <c:numRef>
              <c:f>Sheet1!$B$2:$B$6</c:f>
              <c:numCache>
                <c:formatCode>General</c:formatCode>
                <c:ptCount val="5"/>
                <c:pt idx="0">
                  <c:v>18</c:v>
                </c:pt>
                <c:pt idx="1">
                  <c:v>24</c:v>
                </c:pt>
                <c:pt idx="2">
                  <c:v>23</c:v>
                </c:pt>
                <c:pt idx="3">
                  <c:v>17</c:v>
                </c:pt>
                <c:pt idx="4">
                  <c:v>12</c:v>
                </c:pt>
              </c:numCache>
            </c:numRef>
          </c:val>
        </c:ser>
        <c:dLbls>
          <c:numFmt formatCode="#,##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Ablation (AUROC): every stream adds signal</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94A3B8"/>
            </a:solidFill>
            <a:effectLst/>
          </c:spPr>
          <c:invertIfNegative val="0"/>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0F766E"/>
              </a:solidFill>
              <a:effectLst/>
            </c:spPr>
          </c:dPt>
          <c:dPt>
            <c:idx val="6"/>
            <c:invertIfNegative val="0"/>
            <c:bubble3D val="0"/>
            <c:spPr>
              <a:solidFill>
                <a:srgbClr val="7C3AED"/>
              </a:solidFill>
              <a:effectLst/>
            </c:spPr>
          </c:dPt>
          <c:cat>
            <c:multiLvlStrRef>
              <c:f>Sheet1!$A$2:$A$8</c:f>
              <c:multiLvlStrCache>
                <c:ptCount val="7"/>
                <c:lvl>
                  <c:pt idx="0">
                    <c:v>Twin alone (physiology)</c:v>
                  </c:pt>
                  <c:pt idx="1">
                    <c:v>ML: CGM only</c:v>
                  </c:pt>
                  <c:pt idx="2">
                    <c:v>ML: CGM + EHR</c:v>
                  </c:pt>
                  <c:pt idx="3">
                    <c:v>ML: CGM + wearables &amp; logs</c:v>
                  </c:pt>
                  <c:pt idx="4">
                    <c:v>ML: all streams, no twin</c:v>
                  </c:pt>
                  <c:pt idx="5">
                    <c:v>ThaliTwin: all streams + twin</c:v>
                  </c:pt>
                  <c:pt idx="6">
                    <c:v>Deep GRU: all streams + twin</c:v>
                  </c:pt>
                </c:lvl>
              </c:multiLvlStrCache>
            </c:multiLvlStrRef>
          </c:cat>
          <c:val>
            <c:numRef>
              <c:f>Sheet1!$B$2:$B$8</c:f>
              <c:numCache>
                <c:formatCode>General</c:formatCode>
                <c:ptCount val="7"/>
                <c:pt idx="0">
                  <c:v>0.919</c:v>
                </c:pt>
                <c:pt idx="1">
                  <c:v>0.931</c:v>
                </c:pt>
                <c:pt idx="2">
                  <c:v>0.934</c:v>
                </c:pt>
                <c:pt idx="3">
                  <c:v>0.953</c:v>
                </c:pt>
                <c:pt idx="4">
                  <c:v>0.954</c:v>
                </c:pt>
                <c:pt idx="5">
                  <c:v>0.957</c:v>
                </c:pt>
                <c:pt idx="6">
                  <c:v>0.943</c:v>
                </c:pt>
              </c:numCache>
            </c:numRef>
          </c:val>
        </c:ser>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
          <c:min val="0.8"/>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RMSE (mg/dL) - synthetic Indian cohort</a:t>
            </a:r>
          </a:p>
        </c:rich>
      </c:tx>
      <c:layout/>
      <c:overlay val="0"/>
    </c:title>
    <c:autoTitleDeleted val="0"/>
    <c:plotArea>
      <c:layout/>
      <c:barChart>
        <c:barDir val="col"/>
        <c:grouping val="clustered"/>
        <c:varyColors val="0"/>
        <c:ser>
          <c:idx val="0"/>
          <c:order val="0"/>
          <c:tx>
            <c:strRef>
              <c:f>Sheet1!$B$1</c:f>
              <c:strCache>
                <c:ptCount val="1"/>
                <c:pt idx="0">
                  <c:v>No-change forecast</c:v>
                </c:pt>
              </c:strCache>
            </c:strRef>
          </c:tx>
          <c:spPr>
            <a:solidFill>
              <a:srgbClr val="94A3B8"/>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16</c:v>
                </c:pt>
                <c:pt idx="1">
                  <c:v>27</c:v>
                </c:pt>
                <c:pt idx="2">
                  <c:v>39.8</c:v>
                </c:pt>
              </c:numCache>
            </c:numRef>
          </c:val>
        </c:ser>
        <c:ser>
          <c:idx val="1"/>
          <c:order val="1"/>
          <c:tx>
            <c:strRef>
              <c:f>Sheet1!$C$1</c:f>
              <c:strCache>
                <c:ptCount val="1"/>
                <c:pt idx="0">
                  <c:v>Twin alone</c:v>
                </c:pt>
              </c:strCache>
            </c:strRef>
          </c:tx>
          <c:spPr>
            <a:solidFill>
              <a:srgbClr val="D97706"/>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10.7</c:v>
                </c:pt>
                <c:pt idx="1">
                  <c:v>17.5</c:v>
                </c:pt>
                <c:pt idx="2">
                  <c:v>25.6</c:v>
                </c:pt>
              </c:numCache>
            </c:numRef>
          </c:val>
        </c:ser>
        <c:ser>
          <c:idx val="2"/>
          <c:order val="2"/>
          <c:tx>
            <c:strRef>
              <c:f>Sheet1!$D$1</c:f>
              <c:strCache>
                <c:ptCount val="1"/>
                <c:pt idx="0">
                  <c:v>ThaliTwin</c:v>
                </c:pt>
              </c:strCache>
            </c:strRef>
          </c:tx>
          <c:spPr>
            <a:solidFill>
              <a:srgbClr val="0F766E"/>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Sheet1!$D$2:$D$4</c:f>
              <c:numCache>
                <c:formatCode>General</c:formatCode>
                <c:ptCount val="3"/>
                <c:pt idx="0">
                  <c:v>8.4</c:v>
                </c:pt>
                <c:pt idx="1">
                  <c:v>13.9</c:v>
                </c:pt>
                <c:pt idx="2">
                  <c:v>21.9</c:v>
                </c:pt>
              </c:numCache>
            </c:numRef>
          </c:val>
        </c:ser>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RMSE (mg/dL) - real ShanghaiT2DM, 5-fold CV</a:t>
            </a:r>
          </a:p>
        </c:rich>
      </c:tx>
      <c:layout/>
      <c:overlay val="0"/>
    </c:title>
    <c:autoTitleDeleted val="0"/>
    <c:plotArea>
      <c:layout/>
      <c:barChart>
        <c:barDir val="col"/>
        <c:grouping val="clustered"/>
        <c:varyColors val="0"/>
        <c:ser>
          <c:idx val="0"/>
          <c:order val="0"/>
          <c:tx>
            <c:strRef>
              <c:f>Sheet1!$B$1</c:f>
              <c:strCache>
                <c:ptCount val="1"/>
                <c:pt idx="0">
                  <c:v>No-change forecast</c:v>
                </c:pt>
              </c:strCache>
            </c:strRef>
          </c:tx>
          <c:spPr>
            <a:solidFill>
              <a:srgbClr val="94A3B8"/>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17.6</c:v>
                </c:pt>
                <c:pt idx="1">
                  <c:v>29.4</c:v>
                </c:pt>
                <c:pt idx="2">
                  <c:v>43.9</c:v>
                </c:pt>
              </c:numCache>
            </c:numRef>
          </c:val>
        </c:ser>
        <c:ser>
          <c:idx val="1"/>
          <c:order val="1"/>
          <c:tx>
            <c:strRef>
              <c:f>Sheet1!$C$1</c:f>
              <c:strCache>
                <c:ptCount val="1"/>
                <c:pt idx="0">
                  <c:v>Twin alone</c:v>
                </c:pt>
              </c:strCache>
            </c:strRef>
          </c:tx>
          <c:spPr>
            <a:solidFill>
              <a:srgbClr val="D97706"/>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16.8</c:v>
                </c:pt>
                <c:pt idx="1">
                  <c:v>27.9</c:v>
                </c:pt>
                <c:pt idx="2">
                  <c:v>39.5</c:v>
                </c:pt>
              </c:numCache>
            </c:numRef>
          </c:val>
        </c:ser>
        <c:ser>
          <c:idx val="2"/>
          <c:order val="2"/>
          <c:tx>
            <c:strRef>
              <c:f>Sheet1!$D$1</c:f>
              <c:strCache>
                <c:ptCount val="1"/>
                <c:pt idx="0">
                  <c:v>ThaliTwin</c:v>
                </c:pt>
              </c:strCache>
            </c:strRef>
          </c:tx>
          <c:spPr>
            <a:solidFill>
              <a:srgbClr val="0F766E"/>
            </a:solidFill>
            <a:effectLst/>
          </c:spPr>
          <c:invertIfNegative val="0"/>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Sheet1!$D$2:$D$4</c:f>
              <c:numCache>
                <c:formatCode>General</c:formatCode>
                <c:ptCount val="3"/>
                <c:pt idx="0">
                  <c:v>12.6</c:v>
                </c:pt>
                <c:pt idx="1">
                  <c:v>22.2</c:v>
                </c:pt>
                <c:pt idx="2">
                  <c:v>31.6</c:v>
                </c:pt>
              </c:numCache>
            </c:numRef>
          </c:val>
        </c:ser>
        <c:dLbls>
          <c:numFmt formatCode="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AUROC on real patients (out-of-fold)</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CBD5E1"/>
            </a:solidFill>
            <a:effectLst/>
          </c:spPr>
          <c:invertIfNegative val="0"/>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CBD5E1"/>
              </a:solidFill>
              <a:effectLst/>
            </c:spPr>
          </c:dPt>
          <c:dPt>
            <c:idx val="1"/>
            <c:invertIfNegative val="0"/>
            <c:bubble3D val="0"/>
            <c:spPr>
              <a:solidFill>
                <a:srgbClr val="A78BFA"/>
              </a:solidFill>
              <a:effectLst/>
            </c:spPr>
          </c:dPt>
          <c:dPt>
            <c:idx val="2"/>
            <c:invertIfNegative val="0"/>
            <c:bubble3D val="0"/>
            <c:spPr>
              <a:solidFill>
                <a:srgbClr val="A78BFA"/>
              </a:solidFill>
              <a:effectLst/>
            </c:spPr>
          </c:dPt>
          <c:dPt>
            <c:idx val="3"/>
            <c:invertIfNegative val="0"/>
            <c:bubble3D val="0"/>
            <c:spPr>
              <a:solidFill>
                <a:srgbClr val="A78BFA"/>
              </a:solidFill>
              <a:effectLst/>
            </c:spPr>
          </c:dPt>
          <c:dPt>
            <c:idx val="4"/>
            <c:invertIfNegative val="0"/>
            <c:bubble3D val="0"/>
            <c:spPr>
              <a:solidFill>
                <a:srgbClr val="A78BFA"/>
              </a:solidFill>
              <a:effectLst/>
            </c:spPr>
          </c:dPt>
          <c:dPt>
            <c:idx val="5"/>
            <c:invertIfNegative val="0"/>
            <c:bubble3D val="0"/>
            <c:spPr>
              <a:solidFill>
                <a:srgbClr val="A78BFA"/>
              </a:solidFill>
              <a:effectLst/>
            </c:spPr>
          </c:dPt>
          <c:dPt>
            <c:idx val="6"/>
            <c:invertIfNegative val="0"/>
            <c:bubble3D val="0"/>
            <c:spPr>
              <a:solidFill>
                <a:srgbClr val="7C3AED"/>
              </a:solidFill>
              <a:effectLst/>
            </c:spPr>
          </c:dPt>
          <c:dPt>
            <c:idx val="7"/>
            <c:invertIfNegative val="0"/>
            <c:bubble3D val="0"/>
            <c:spPr>
              <a:solidFill>
                <a:srgbClr val="A78BFA"/>
              </a:solidFill>
              <a:effectLst/>
            </c:spPr>
          </c:dPt>
          <c:cat>
            <c:multiLvlStrRef>
              <c:f>Sheet1!$A$2:$A$9</c:f>
              <c:multiLvlStrCache>
                <c:ptCount val="8"/>
                <c:lvl>
                  <c:pt idx="0">
                    <c:v>Trend rule</c:v>
                  </c:pt>
                  <c:pt idx="1">
                    <c:v>Twin alone (physiology)</c:v>
                  </c:pt>
                  <c:pt idx="2">
                    <c:v>ML: CGM only</c:v>
                  </c:pt>
                  <c:pt idx="3">
                    <c:v>ML: CGM + EHR</c:v>
                  </c:pt>
                  <c:pt idx="4">
                    <c:v>ML: CGM + meal/insulin logs</c:v>
                  </c:pt>
                  <c:pt idx="5">
                    <c:v>ML: all streams, no twin</c:v>
                  </c:pt>
                  <c:pt idx="6">
                    <c:v>ThaliTwin: all streams + twin</c:v>
                  </c:pt>
                  <c:pt idx="7">
                    <c:v>Deep GRU: all streams + twin</c:v>
                  </c:pt>
                </c:lvl>
              </c:multiLvlStrCache>
            </c:multiLvlStrRef>
          </c:cat>
          <c:val>
            <c:numRef>
              <c:f>Sheet1!$B$2:$B$9</c:f>
              <c:numCache>
                <c:formatCode>General</c:formatCode>
                <c:ptCount val="8"/>
                <c:pt idx="0">
                  <c:v>0.748</c:v>
                </c:pt>
                <c:pt idx="1">
                  <c:v>0.813</c:v>
                </c:pt>
                <c:pt idx="2">
                  <c:v>0.878</c:v>
                </c:pt>
                <c:pt idx="3">
                  <c:v>0.872</c:v>
                </c:pt>
                <c:pt idx="4">
                  <c:v>0.884</c:v>
                </c:pt>
                <c:pt idx="5">
                  <c:v>0.882</c:v>
                </c:pt>
                <c:pt idx="6">
                  <c:v>0.878</c:v>
                </c:pt>
                <c:pt idx="7">
                  <c:v>0.841</c:v>
                </c:pt>
              </c:numCache>
            </c:numRef>
          </c:val>
        </c:ser>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
          <c:min val="0.6"/>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Share of SHAP importance by data stream (synthetic)</a:t>
            </a:r>
          </a:p>
        </c:rich>
      </c:tx>
      <c:layout/>
      <c:overlay val="0"/>
    </c:title>
    <c:autoTitleDeleted val="0"/>
    <c:plotArea>
      <c:layout/>
      <c:barChart>
        <c:barDir val="bar"/>
        <c:grouping val="clustered"/>
        <c:varyColors val="0"/>
        <c:ser>
          <c:idx val="0"/>
          <c:order val="0"/>
          <c:tx>
            <c:strRef>
              <c:f>Sheet1!$B$1</c:f>
              <c:strCache>
                <c:ptCount val="1"/>
                <c:pt idx="0">
                  <c:v>share</c:v>
                </c:pt>
              </c:strCache>
            </c:strRef>
          </c:tx>
          <c:spPr>
            <a:solidFill>
              <a:srgbClr val="0F766E"/>
            </a:solidFill>
            <a:effectLst/>
          </c:spPr>
          <c:invertIfNegative val="0"/>
          <c:dLbls>
            <c:numFmt formatCode="0.0&quot;%&quot;"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7C3AED"/>
              </a:solidFill>
              <a:effectLst/>
            </c:spPr>
          </c:dPt>
          <c:dPt>
            <c:idx val="2"/>
            <c:invertIfNegative val="0"/>
            <c:bubble3D val="0"/>
            <c:spPr>
              <a:solidFill>
                <a:srgbClr val="334155"/>
              </a:solidFill>
              <a:effectLst/>
            </c:spPr>
          </c:dPt>
          <c:dPt>
            <c:idx val="3"/>
            <c:invertIfNegative val="0"/>
            <c:bubble3D val="0"/>
            <c:spPr>
              <a:solidFill>
                <a:srgbClr val="D97706"/>
              </a:solidFill>
              <a:effectLst/>
            </c:spPr>
          </c:dPt>
          <c:dPt>
            <c:idx val="4"/>
            <c:invertIfNegative val="0"/>
            <c:bubble3D val="0"/>
            <c:spPr>
              <a:solidFill>
                <a:srgbClr val="2563EB"/>
              </a:solidFill>
              <a:effectLst/>
            </c:spPr>
          </c:dPt>
          <c:cat>
            <c:multiLvlStrRef>
              <c:f>Sheet1!$A$2:$A$6</c:f>
              <c:multiLvlStrCache>
                <c:ptCount val="5"/>
                <c:lvl>
                  <c:pt idx="0">
                    <c:v>Digital twin</c:v>
                  </c:pt>
                  <c:pt idx="1">
                    <c:v>CGM</c:v>
                  </c:pt>
                  <c:pt idx="2">
                    <c:v>Wearables</c:v>
                  </c:pt>
                  <c:pt idx="3">
                    <c:v>Meal &amp; medicine logs</c:v>
                  </c:pt>
                  <c:pt idx="4">
                    <c:v>EHR</c:v>
                  </c:pt>
                </c:lvl>
              </c:multiLvlStrCache>
            </c:multiLvlStrRef>
          </c:cat>
          <c:val>
            <c:numRef>
              <c:f>Sheet1!$B$2:$B$6</c:f>
              <c:numCache>
                <c:formatCode>General</c:formatCode>
                <c:ptCount val="5"/>
                <c:pt idx="0">
                  <c:v>57.5</c:v>
                </c:pt>
                <c:pt idx="1">
                  <c:v>15.9</c:v>
                </c:pt>
                <c:pt idx="2">
                  <c:v>15.1</c:v>
                </c:pt>
                <c:pt idx="3">
                  <c:v>5.9</c:v>
                </c:pt>
                <c:pt idx="4">
                  <c:v>5.6</c:v>
                </c:pt>
              </c:numCache>
            </c:numRef>
          </c:val>
        </c:ser>
        <c:dLbls>
          <c:numFmt formatCode="0.0&quot;%&quot;"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Gym Bro from IIIT Delhi. ThaliTwin is a proof-of-concept digital twin for people with type-2 diabetes. It fuses a patient's health record with live wearable data, predicts glucose spikes up to two hours before they happen, explains the reasons, and lets a doctor test alternatives on the virtual patient. Why the name? A thali is the everyday Indian plate, where most post-meal spikes begin - ThaliTwin is a twin that knows what is on the patient's plate and simulates what it will do to their glucose.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101 million adults with diabetes and 136 million with prediabetes according to ICMR-INDIAB. Care revolves around HbA1c every few months, which averages away the daily post-meal spikes. CGMs produce 288 readings a day, but nobody can watch them all. Our question: can a digital twin predict new spikes two hours ahead, early enough to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has three verbs. Predict: every five minutes, the probability of a new spike in the next two hours. Explain: the top reasons in plain language. Act: the clinician tests alternatives on the twin before counselling. It is decision support for a care team, never automated dosing.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Data sources: a synthetic EHR in FHIR format, wearable and CGM streams, app logs, and the real ShanghaiT2DM dataset. Ingestion aligns everything on a 5-minute grid. The twin engine is a personalised physiological model that calibrates nightly and synchronises live. The ML layer fuses features and twin simulations. Delivery is a doctor dashboard and a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stream is the EHR: demographics, ICD-10 diagnoses, LOINC labs with history, medicines and genetic markers, exported as FHIR bundles. The dynamic stream is five-minute CGM, steps, heart rate, HRV and sleep stages, plus meal and medicine logs. Everything is synthetic or anonymised, as the sandbox rules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localised the problem. Meals come from a 35-dish regional Indian menu with carbs and glycaemic index. Patients follow the Asian thin-fat phenotype and Indian prescribing patterns. Routines include evening chai, late dinners, festival sweets and missed doses. Genetic markers relevant to South Asians shape beta-cell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an extended Bergman minimal model with gut absorption by glycaemic index, exercise uptake, sleep-dependent insulin sensitivity and the dawn phenomenon. It starts from the EHR, re-calibrates every night, synchronises to each CGM reading with a disturbance observer, and simulates forward. The charts show it learning each patient's hidden insulin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layer fuses 94 features: CGM history, EHR, wearables, logs and the twin's own simulations. LightGBM produces the spike probability and the glucose forecasts, conformal prediction gives honest 80% intervals, and TreeSHAP gives exact explanations. Everything is evaluated on patients the model never saw, against baselines and a deep-learning GRU.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thirty held-out synthetic patients, ThaliTwin reaches an AUROC of 0.957 for a new spike within two hours. It flags 99% of spike events at least fifteen minutes ahead, with a median warning of 110 minutes, at 2.7 false alerts per patient-day. The ablation shows each data stream adding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error, measured as RMSE, is roughly halved on the synthetic cohort and about a quarter lower on real ShanghaiT2DM patients, compared with a no-change forecast. 96.7 percent of one-hour forecasts fall in Clarke zone A, and our conformal intervals cover the stated eighty percent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validated on ShanghaiT2DM: one hundred real people with type-2 diabetes, fifteen-minute CGM, and a clinical summary. With five-fold cross-validation grouped by person, the model clearly beats rule-based and no-change baselines. Because this dataset has no wearables and only free-text meals, the extra streams add little here, and we say so plainly. That is exactly what a prospective Indian pilot should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Explanations are exact TreeSHAP contributions, grouped and translated into plain language. Across the cohort, the twin's simulation carries most of the importance, followed by wearables and CGM history. On the right is a real alert from our dashboard for a synthetic patient, with its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Streamlit dashboard. The ward view ranks every monitored patient by spike risk, with a one-line main driver. Opening a patient shows the twin: the CGM trace, the forecast with its eighty percent band, the alert and its reasons, wearables, the EHR, labs with LOINC codes, and the seven-day profile. A live-replay mode streams the data as if from real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simulator asks the patient's own twin about alternatives: a smaller portion, swapping rice for millet roti, a fifteen-minute walk after eating, or the effect of a short night's sleep. Because the twin is calibrated to this patient, the comparison is personal. This is for counselling, not dosing.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 fatigue is real, so we report the trade-off explicitly. The default setting flags almost every spike with a long warning. A quieter setting cuts false alerts to about one per patient-day while still catching most spikes. A programme can choose its operating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only synthetic or published anonymised data, with no identifiers, following the DPDP Act's principles. ThaliTwin is decision support with calibrated uncertainty and visible reasons. Its limitations: synthetic wearable effects come from the literature, the real dataset lacks wearables, and it needs prospective validation before any clinical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want an ethics-approved pilot with Indian CGM and smartwatch users, integration with ABDM and FHIR, federated learning across hospitals, and new twins for hypertension and cardiovascular risk on the same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Everything - code, data card, model card and this video - is in our public GitHub repository, and the whole pipeline rebuilds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E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rtlCol="0"/>
          <a:lstStyle>
            <a:lvl1pPr algn="l" indent="0" marL="0">
              <a:buNone/>
              <a:defRPr lang="en-US" sz="6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731520" y="3337560"/>
            <a:ext cx="6766560" cy="1280160"/>
          </a:xfrm>
          <a:prstGeom prst="rect">
            <a:avLst/>
          </a:prstGeom>
          <a:noFill/>
          <a:ln/>
        </p:spPr>
        <p:txBody>
          <a:bodyPr wrap="square" rtlCol="0"/>
          <a:lstStyle>
            <a:lvl1pPr indent="0" marL="0">
              <a:buNone/>
              <a:defRPr lang="en-US" sz="2200" dirty="0">
                <a:solidFill>
                  <a:srgbClr val="CCEDE8"/>
                </a:solidFill>
                <a:latin typeface="Calibri" pitchFamily="34" charset="0"/>
                <a:ea typeface="Calibri" pitchFamily="34" charset="-122"/>
                <a:cs typeface="Calibri" pitchFamily="34" charset="-120"/>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rgbClr val="0F172A"/>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ThaliTwin  ·  Team Gym Bro  ·  IIIT Delhi  ·  Digital Twin Challenge 2026</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lIns="0" tIns="0" rIns="0" bIns="0" rtlCol="0" anchor="b"/>
          <a:lstStyle/>
          <a:p>
            <a:pPr algn="l" indent="0" marL="0">
              <a:buNone/>
            </a:pPr>
            <a:r>
              <a:rPr lang="en-US" sz="6000" b="1" dirty="0">
                <a:solidFill>
                  <a:srgbClr val="FFFFFF"/>
                </a:solidFill>
                <a:latin typeface="Cambria" pitchFamily="34" charset="0"/>
                <a:ea typeface="Cambria" pitchFamily="34" charset="-122"/>
                <a:cs typeface="Cambria" pitchFamily="34" charset="-120"/>
              </a:rPr>
              <a:t>ThaliTwin</a:t>
            </a:r>
            <a:endParaRPr lang="en-US" sz="6000" dirty="0"/>
          </a:p>
        </p:txBody>
      </p:sp>
      <p:sp>
        <p:nvSpPr>
          <p:cNvPr id="3" name="Text 0"/>
          <p:cNvSpPr/>
          <p:nvPr>
            <p:ph idx="101" type="body" hasCustomPrompt="1"/>
          </p:nvPr>
        </p:nvSpPr>
        <p:spPr>
          <a:xfrm>
            <a:off x="731520" y="3337560"/>
            <a:ext cx="6766560" cy="1280160"/>
          </a:xfrm>
          <a:prstGeom prst="rect">
            <a:avLst/>
          </a:prstGeom>
          <a:noFill/>
          <a:ln/>
        </p:spPr>
        <p:txBody>
          <a:bodyPr wrap="square" lIns="0" tIns="0" rIns="0" bIns="0" rtlCol="0" anchor="t"/>
          <a:lstStyle/>
          <a:p>
            <a:pPr indent="0" marL="0">
              <a:buNone/>
            </a:pPr>
            <a:r>
              <a:rPr lang="en-US" sz="2200" dirty="0">
                <a:solidFill>
                  <a:srgbClr val="CCEDE8"/>
                </a:solidFill>
                <a:latin typeface="Calibri" pitchFamily="34" charset="0"/>
                <a:ea typeface="Calibri" pitchFamily="34" charset="-122"/>
                <a:cs typeface="Calibri" pitchFamily="34" charset="-120"/>
              </a:rPr>
              <a:t>A digital twin for type-2 diabetes that sees glucose spikes coming up to 2 hours ahead, explains why, and lets doctors test what would prevent them</a:t>
            </a:r>
            <a:endParaRPr lang="en-US" sz="2200" dirty="0"/>
          </a:p>
        </p:txBody>
      </p:sp>
      <p:sp>
        <p:nvSpPr>
          <p:cNvPr id="4" name="team"/>
          <p:cNvSpPr txBox="1"/>
          <p:nvPr/>
        </p:nvSpPr>
        <p:spPr>
          <a:xfrm>
            <a:off x="731520" y="5120640"/>
            <a:ext cx="685800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Team Gym Bro  ·  IIIT Delhi</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Digital Twin Challenge 2026  ·  Happiest Health Summit, Bengaluru</a:t>
            </a:r>
            <a:endParaRPr lang="en-US" sz="1500" dirty="0"/>
          </a:p>
        </p:txBody>
      </p:sp>
      <p:sp>
        <p:nvSpPr>
          <p:cNvPr id="5" name="title-tile-0"/>
          <p:cNvSpPr/>
          <p:nvPr/>
        </p:nvSpPr>
        <p:spPr>
          <a:xfrm>
            <a:off x="8229600" y="1325880"/>
            <a:ext cx="3291840" cy="1234440"/>
          </a:xfrm>
          <a:prstGeom prst="roundRect">
            <a:avLst>
              <a:gd name="adj" fmla="val 8889"/>
            </a:avLst>
          </a:prstGeom>
          <a:solidFill>
            <a:srgbClr val="123F45"/>
          </a:solidFill>
          <a:ln w="12700">
            <a:solidFill>
              <a:srgbClr val="1D5A60"/>
            </a:solidFill>
            <a:prstDash val="solid"/>
          </a:ln>
        </p:spPr>
      </p:sp>
      <p:sp>
        <p:nvSpPr>
          <p:cNvPr id="6" name="title-tile-v-0"/>
          <p:cNvSpPr txBox="1"/>
          <p:nvPr/>
        </p:nvSpPr>
        <p:spPr>
          <a:xfrm>
            <a:off x="8458200" y="1417320"/>
            <a:ext cx="2834640" cy="640080"/>
          </a:xfrm>
          <a:prstGeom prst="rect">
            <a:avLst/>
          </a:prstGeom>
          <a:noFill/>
          <a:ln/>
        </p:spPr>
        <p:txBody>
          <a:bodyPr wrap="square" lIns="0" tIns="0" rIns="0" bIns="0" rtlCol="0" anchor="ctr"/>
          <a:lstStyle/>
          <a:p>
            <a:pPr indent="0" marL="0">
              <a:buNone/>
            </a:pPr>
            <a:r>
              <a:rPr lang="en-US" sz="3200" b="1" dirty="0">
                <a:solidFill>
                  <a:srgbClr val="D97706"/>
                </a:solidFill>
                <a:latin typeface="Cambria" pitchFamily="34" charset="0"/>
                <a:ea typeface="Cambria" pitchFamily="34" charset="-122"/>
                <a:cs typeface="Cambria" pitchFamily="34" charset="-120"/>
              </a:rPr>
              <a:t>2 h</a:t>
            </a:r>
            <a:endParaRPr lang="en-US" sz="3200" dirty="0"/>
          </a:p>
        </p:txBody>
      </p:sp>
      <p:sp>
        <p:nvSpPr>
          <p:cNvPr id="7" name="title-tile-l-0"/>
          <p:cNvSpPr txBox="1"/>
          <p:nvPr/>
        </p:nvSpPr>
        <p:spPr>
          <a:xfrm>
            <a:off x="8458200" y="2039112"/>
            <a:ext cx="2926080" cy="457200"/>
          </a:xfrm>
          <a:prstGeom prst="rect">
            <a:avLst/>
          </a:prstGeom>
          <a:noFill/>
          <a:ln/>
        </p:spPr>
        <p:txBody>
          <a:bodyPr wrap="square" lIns="0" tIns="0" rIns="0" bIns="0" rtlCol="0" anchor="ctr"/>
          <a:lstStyle/>
          <a:p>
            <a:pPr indent="0" marL="0">
              <a:buNone/>
            </a:pPr>
            <a:r>
              <a:rPr lang="en-US" sz="1200" dirty="0">
                <a:solidFill>
                  <a:srgbClr val="CCEDE8"/>
                </a:solidFill>
                <a:latin typeface="Calibri" pitchFamily="34" charset="0"/>
                <a:ea typeface="Calibri" pitchFamily="34" charset="-122"/>
                <a:cs typeface="Calibri" pitchFamily="34" charset="-120"/>
              </a:rPr>
              <a:t>early warning of spikes &gt; 180 mg/dL</a:t>
            </a:r>
            <a:endParaRPr lang="en-US" sz="1200" dirty="0"/>
          </a:p>
        </p:txBody>
      </p:sp>
      <p:sp>
        <p:nvSpPr>
          <p:cNvPr id="8" name="title-tile-1"/>
          <p:cNvSpPr/>
          <p:nvPr/>
        </p:nvSpPr>
        <p:spPr>
          <a:xfrm>
            <a:off x="8229600" y="2788920"/>
            <a:ext cx="3291840" cy="1234440"/>
          </a:xfrm>
          <a:prstGeom prst="roundRect">
            <a:avLst>
              <a:gd name="adj" fmla="val 8889"/>
            </a:avLst>
          </a:prstGeom>
          <a:solidFill>
            <a:srgbClr val="123F45"/>
          </a:solidFill>
          <a:ln w="12700">
            <a:solidFill>
              <a:srgbClr val="1D5A60"/>
            </a:solidFill>
            <a:prstDash val="solid"/>
          </a:ln>
        </p:spPr>
      </p:sp>
      <p:sp>
        <p:nvSpPr>
          <p:cNvPr id="9" name="title-tile-v-1"/>
          <p:cNvSpPr txBox="1"/>
          <p:nvPr/>
        </p:nvSpPr>
        <p:spPr>
          <a:xfrm>
            <a:off x="8458200" y="2880360"/>
            <a:ext cx="2834640" cy="640080"/>
          </a:xfrm>
          <a:prstGeom prst="rect">
            <a:avLst/>
          </a:prstGeom>
          <a:noFill/>
          <a:ln/>
        </p:spPr>
        <p:txBody>
          <a:bodyPr wrap="square" lIns="0" tIns="0" rIns="0" bIns="0" rtlCol="0" anchor="ctr"/>
          <a:lstStyle/>
          <a:p>
            <a:pPr indent="0" marL="0">
              <a:buNone/>
            </a:pPr>
            <a:r>
              <a:rPr lang="en-US" sz="3200" b="1" dirty="0">
                <a:solidFill>
                  <a:srgbClr val="D97706"/>
                </a:solidFill>
                <a:latin typeface="Cambria" pitchFamily="34" charset="0"/>
                <a:ea typeface="Cambria" pitchFamily="34" charset="-122"/>
                <a:cs typeface="Cambria" pitchFamily="34" charset="-120"/>
              </a:rPr>
              <a:t>300</a:t>
            </a:r>
            <a:endParaRPr lang="en-US" sz="3200" dirty="0"/>
          </a:p>
        </p:txBody>
      </p:sp>
      <p:sp>
        <p:nvSpPr>
          <p:cNvPr id="10" name="title-tile-l-1"/>
          <p:cNvSpPr txBox="1"/>
          <p:nvPr/>
        </p:nvSpPr>
        <p:spPr>
          <a:xfrm>
            <a:off x="8458200" y="3502152"/>
            <a:ext cx="2926080" cy="457200"/>
          </a:xfrm>
          <a:prstGeom prst="rect">
            <a:avLst/>
          </a:prstGeom>
          <a:noFill/>
          <a:ln/>
        </p:spPr>
        <p:txBody>
          <a:bodyPr wrap="square" lIns="0" tIns="0" rIns="0" bIns="0" rtlCol="0" anchor="ctr"/>
          <a:lstStyle/>
          <a:p>
            <a:pPr indent="0" marL="0">
              <a:buNone/>
            </a:pPr>
            <a:r>
              <a:rPr lang="en-US" sz="1200" dirty="0">
                <a:solidFill>
                  <a:srgbClr val="CCEDE8"/>
                </a:solidFill>
                <a:latin typeface="Calibri" pitchFamily="34" charset="0"/>
                <a:ea typeface="Calibri" pitchFamily="34" charset="-122"/>
                <a:cs typeface="Calibri" pitchFamily="34" charset="-120"/>
              </a:rPr>
              <a:t>patients: 200 synthetic Indian + 100 real (ShanghaiT2DM)</a:t>
            </a:r>
            <a:endParaRPr lang="en-US" sz="1200" dirty="0"/>
          </a:p>
        </p:txBody>
      </p:sp>
      <p:sp>
        <p:nvSpPr>
          <p:cNvPr id="11" name="title-tile-2"/>
          <p:cNvSpPr/>
          <p:nvPr/>
        </p:nvSpPr>
        <p:spPr>
          <a:xfrm>
            <a:off x="8229600" y="4251960"/>
            <a:ext cx="3291840" cy="1234440"/>
          </a:xfrm>
          <a:prstGeom prst="roundRect">
            <a:avLst>
              <a:gd name="adj" fmla="val 8889"/>
            </a:avLst>
          </a:prstGeom>
          <a:solidFill>
            <a:srgbClr val="123F45"/>
          </a:solidFill>
          <a:ln w="12700">
            <a:solidFill>
              <a:srgbClr val="1D5A60"/>
            </a:solidFill>
            <a:prstDash val="solid"/>
          </a:ln>
        </p:spPr>
      </p:sp>
      <p:sp>
        <p:nvSpPr>
          <p:cNvPr id="12" name="title-tile-v-2"/>
          <p:cNvSpPr txBox="1"/>
          <p:nvPr/>
        </p:nvSpPr>
        <p:spPr>
          <a:xfrm>
            <a:off x="8458200" y="4343400"/>
            <a:ext cx="2834640" cy="640080"/>
          </a:xfrm>
          <a:prstGeom prst="rect">
            <a:avLst/>
          </a:prstGeom>
          <a:noFill/>
          <a:ln/>
        </p:spPr>
        <p:txBody>
          <a:bodyPr wrap="square" lIns="0" tIns="0" rIns="0" bIns="0" rtlCol="0" anchor="ctr"/>
          <a:lstStyle/>
          <a:p>
            <a:pPr indent="0" marL="0">
              <a:buNone/>
            </a:pPr>
            <a:r>
              <a:rPr lang="en-US" sz="3200" b="1" dirty="0">
                <a:solidFill>
                  <a:srgbClr val="D97706"/>
                </a:solidFill>
                <a:latin typeface="Cambria" pitchFamily="34" charset="0"/>
                <a:ea typeface="Cambria" pitchFamily="34" charset="-122"/>
                <a:cs typeface="Cambria" pitchFamily="34" charset="-120"/>
              </a:rPr>
              <a:t>0.96</a:t>
            </a:r>
            <a:endParaRPr lang="en-US" sz="3200" dirty="0"/>
          </a:p>
        </p:txBody>
      </p:sp>
      <p:sp>
        <p:nvSpPr>
          <p:cNvPr id="13" name="title-tile-l-2"/>
          <p:cNvSpPr txBox="1"/>
          <p:nvPr/>
        </p:nvSpPr>
        <p:spPr>
          <a:xfrm>
            <a:off x="8458200" y="4965192"/>
            <a:ext cx="2926080" cy="457200"/>
          </a:xfrm>
          <a:prstGeom prst="rect">
            <a:avLst/>
          </a:prstGeom>
          <a:noFill/>
          <a:ln/>
        </p:spPr>
        <p:txBody>
          <a:bodyPr wrap="square" lIns="0" tIns="0" rIns="0" bIns="0" rtlCol="0" anchor="ctr"/>
          <a:lstStyle/>
          <a:p>
            <a:pPr indent="0" marL="0">
              <a:buNone/>
            </a:pPr>
            <a:r>
              <a:rPr lang="en-US" sz="1200" dirty="0">
                <a:solidFill>
                  <a:srgbClr val="CCEDE8"/>
                </a:solidFill>
                <a:latin typeface="Calibri" pitchFamily="34" charset="0"/>
                <a:ea typeface="Calibri" pitchFamily="34" charset="-122"/>
                <a:cs typeface="Calibri" pitchFamily="34" charset="-120"/>
              </a:rPr>
              <a:t>AUROC on held-out synthetic patients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India's diabetes burden is daily, but care is quarterly</a:t>
            </a:r>
            <a:endParaRPr lang="en-US" sz="3400" dirty="0"/>
          </a:p>
        </p:txBody>
      </p:sp>
      <p:sp>
        <p:nvSpPr>
          <p:cNvPr id="3" name="p1-card"/>
          <p:cNvSpPr/>
          <p:nvPr/>
        </p:nvSpPr>
        <p:spPr>
          <a:xfrm>
            <a:off x="548640" y="1371600"/>
            <a:ext cx="274320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p1-value"/>
          <p:cNvSpPr txBox="1"/>
          <p:nvPr/>
        </p:nvSpPr>
        <p:spPr>
          <a:xfrm>
            <a:off x="731520" y="1481328"/>
            <a:ext cx="2377440" cy="731520"/>
          </a:xfrm>
          <a:prstGeom prst="rect">
            <a:avLst/>
          </a:prstGeom>
          <a:noFill/>
          <a:ln/>
        </p:spPr>
        <p:txBody>
          <a:bodyPr wrap="square" lIns="0" tIns="0" rIns="0" bIns="0" rtlCol="0" anchor="ctr"/>
          <a:lstStyle/>
          <a:p>
            <a:pPr indent="0" marL="0">
              <a:buNone/>
            </a:pPr>
            <a:r>
              <a:rPr lang="en-US" sz="3600" b="1" dirty="0">
                <a:solidFill>
                  <a:srgbClr val="DC2626"/>
                </a:solidFill>
                <a:latin typeface="Cambria" pitchFamily="34" charset="0"/>
                <a:ea typeface="Cambria" pitchFamily="34" charset="-122"/>
                <a:cs typeface="Cambria" pitchFamily="34" charset="-120"/>
              </a:rPr>
              <a:t>101 M</a:t>
            </a:r>
            <a:endParaRPr lang="en-US" sz="3600" dirty="0"/>
          </a:p>
        </p:txBody>
      </p:sp>
      <p:sp>
        <p:nvSpPr>
          <p:cNvPr id="5" name="p1-label"/>
          <p:cNvSpPr txBox="1"/>
          <p:nvPr/>
        </p:nvSpPr>
        <p:spPr>
          <a:xfrm>
            <a:off x="731520" y="2194560"/>
            <a:ext cx="237744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adults in India live with diabetes (ICMR-INDIAB, 2023)</a:t>
            </a:r>
            <a:endParaRPr lang="en-US" sz="1200" dirty="0"/>
          </a:p>
        </p:txBody>
      </p:sp>
      <p:sp>
        <p:nvSpPr>
          <p:cNvPr id="6" name="p2-card"/>
          <p:cNvSpPr/>
          <p:nvPr/>
        </p:nvSpPr>
        <p:spPr>
          <a:xfrm>
            <a:off x="3520440" y="1371600"/>
            <a:ext cx="274320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p2-value"/>
          <p:cNvSpPr txBox="1"/>
          <p:nvPr/>
        </p:nvSpPr>
        <p:spPr>
          <a:xfrm>
            <a:off x="3703320" y="1481328"/>
            <a:ext cx="2377440" cy="731520"/>
          </a:xfrm>
          <a:prstGeom prst="rect">
            <a:avLst/>
          </a:prstGeom>
          <a:noFill/>
          <a:ln/>
        </p:spPr>
        <p:txBody>
          <a:bodyPr wrap="square" lIns="0" tIns="0" rIns="0" bIns="0" rtlCol="0" anchor="ctr"/>
          <a:lstStyle/>
          <a:p>
            <a:pPr indent="0" marL="0">
              <a:buNone/>
            </a:pPr>
            <a:r>
              <a:rPr lang="en-US" sz="3600" b="1" dirty="0">
                <a:solidFill>
                  <a:srgbClr val="D97706"/>
                </a:solidFill>
                <a:latin typeface="Cambria" pitchFamily="34" charset="0"/>
                <a:ea typeface="Cambria" pitchFamily="34" charset="-122"/>
                <a:cs typeface="Cambria" pitchFamily="34" charset="-120"/>
              </a:rPr>
              <a:t>136 M</a:t>
            </a:r>
            <a:endParaRPr lang="en-US" sz="3600" dirty="0"/>
          </a:p>
        </p:txBody>
      </p:sp>
      <p:sp>
        <p:nvSpPr>
          <p:cNvPr id="8" name="p2-label"/>
          <p:cNvSpPr txBox="1"/>
          <p:nvPr/>
        </p:nvSpPr>
        <p:spPr>
          <a:xfrm>
            <a:off x="3703320" y="2194560"/>
            <a:ext cx="237744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more have prediabetes - the pipeline keeps growing</a:t>
            </a:r>
            <a:endParaRPr lang="en-US" sz="1200" dirty="0"/>
          </a:p>
        </p:txBody>
      </p:sp>
      <p:sp>
        <p:nvSpPr>
          <p:cNvPr id="9" name="p3-card"/>
          <p:cNvSpPr/>
          <p:nvPr/>
        </p:nvSpPr>
        <p:spPr>
          <a:xfrm>
            <a:off x="6492240" y="1371600"/>
            <a:ext cx="23774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0" name="p3-value"/>
          <p:cNvSpPr txBox="1"/>
          <p:nvPr/>
        </p:nvSpPr>
        <p:spPr>
          <a:xfrm>
            <a:off x="6675120" y="1481328"/>
            <a:ext cx="2011680" cy="731520"/>
          </a:xfrm>
          <a:prstGeom prst="rect">
            <a:avLst/>
          </a:prstGeom>
          <a:noFill/>
          <a:ln/>
        </p:spPr>
        <p:txBody>
          <a:bodyPr wrap="square" lIns="0" tIns="0" rIns="0" bIns="0" rtlCol="0" anchor="ctr"/>
          <a:lstStyle/>
          <a:p>
            <a:pPr indent="0" marL="0">
              <a:buNone/>
            </a:pPr>
            <a:r>
              <a:rPr lang="en-US" sz="3600" b="1" dirty="0">
                <a:solidFill>
                  <a:srgbClr val="2563EB"/>
                </a:solidFill>
                <a:latin typeface="Cambria" pitchFamily="34" charset="0"/>
                <a:ea typeface="Cambria" pitchFamily="34" charset="-122"/>
                <a:cs typeface="Cambria" pitchFamily="34" charset="-120"/>
              </a:rPr>
              <a:t>~4 / yr</a:t>
            </a:r>
            <a:endParaRPr lang="en-US" sz="3600" dirty="0"/>
          </a:p>
        </p:txBody>
      </p:sp>
      <p:sp>
        <p:nvSpPr>
          <p:cNvPr id="11" name="p3-label"/>
          <p:cNvSpPr txBox="1"/>
          <p:nvPr/>
        </p:nvSpPr>
        <p:spPr>
          <a:xfrm>
            <a:off x="6675120" y="2194560"/>
            <a:ext cx="20116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HbA1c checks: a 3-month average that hides daily spikes</a:t>
            </a:r>
            <a:endParaRPr lang="en-US" sz="1200" dirty="0"/>
          </a:p>
        </p:txBody>
      </p:sp>
      <p:sp>
        <p:nvSpPr>
          <p:cNvPr id="12" name="p4-card"/>
          <p:cNvSpPr/>
          <p:nvPr/>
        </p:nvSpPr>
        <p:spPr>
          <a:xfrm>
            <a:off x="9098280" y="1371600"/>
            <a:ext cx="251460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p4-value"/>
          <p:cNvSpPr txBox="1"/>
          <p:nvPr/>
        </p:nvSpPr>
        <p:spPr>
          <a:xfrm>
            <a:off x="9281160" y="1481328"/>
            <a:ext cx="214884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288 / day</a:t>
            </a:r>
            <a:endParaRPr lang="en-US" sz="3600" dirty="0"/>
          </a:p>
        </p:txBody>
      </p:sp>
      <p:sp>
        <p:nvSpPr>
          <p:cNvPr id="14" name="p4-label"/>
          <p:cNvSpPr txBox="1"/>
          <p:nvPr/>
        </p:nvSpPr>
        <p:spPr>
          <a:xfrm>
            <a:off x="9281160" y="2194560"/>
            <a:ext cx="214884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readings from a CGM sensor - signal that is rarely acted on</a:t>
            </a:r>
            <a:endParaRPr lang="en-US" sz="1200" dirty="0"/>
          </a:p>
        </p:txBody>
      </p:sp>
      <p:sp>
        <p:nvSpPr>
          <p:cNvPr id="15" name="problem-card"/>
          <p:cNvSpPr/>
          <p:nvPr/>
        </p:nvSpPr>
        <p:spPr>
          <a:xfrm>
            <a:off x="548640" y="3063240"/>
            <a:ext cx="11064240" cy="3108960"/>
          </a:xfrm>
          <a:prstGeom prst="roundRect">
            <a:avLst>
              <a:gd name="adj" fmla="val 3529"/>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6" name="Text 14"/>
          <p:cNvSpPr txBox="1"/>
          <p:nvPr/>
        </p:nvSpPr>
        <p:spPr>
          <a:xfrm>
            <a:off x="868680" y="3246120"/>
            <a:ext cx="5029200" cy="41148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Why spikes matter</a:t>
            </a:r>
            <a:endParaRPr lang="en-US" sz="2000" dirty="0"/>
          </a:p>
        </p:txBody>
      </p:sp>
      <p:sp>
        <p:nvSpPr>
          <p:cNvPr id="17" name="Text 15"/>
          <p:cNvSpPr/>
          <p:nvPr/>
        </p:nvSpPr>
        <p:spPr>
          <a:xfrm>
            <a:off x="868680" y="3749040"/>
            <a:ext cx="512064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Post-meal glucose spikes are common in Indian diets (high-GI rice, roti, chai with sugar, late dinners)</a:t>
            </a:r>
            <a:endParaRPr lang="en-US" sz="1500" dirty="0"/>
          </a:p>
          <a:p>
            <a:pPr marL="342900" indent="-3429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Repeated hyperglycaemia is linked to vascular complications, yet clinicians see it only weeks later</a:t>
            </a:r>
            <a:endParaRPr lang="en-US" sz="1500" dirty="0"/>
          </a:p>
          <a:p>
            <a:pPr marL="342900" indent="-342900">
              <a:spcAft>
                <a:spcPts val="600"/>
              </a:spcAft>
              <a:buSzPct val="100000"/>
              <a:buChar char="•"/>
            </a:pPr>
            <a:r>
              <a:rPr lang="en-US" sz="1500" dirty="0">
                <a:solidFill>
                  <a:srgbClr val="0F172A"/>
                </a:solidFill>
                <a:latin typeface="Calibri" pitchFamily="34" charset="0"/>
                <a:ea typeface="Calibri" pitchFamily="34" charset="-122"/>
                <a:cs typeface="Calibri" pitchFamily="34" charset="-120"/>
              </a:rPr>
              <a:t>Doctors cannot watch hundreds of CGM traces - they need early, explained, prioritised alerts</a:t>
            </a:r>
            <a:endParaRPr lang="en-US" sz="1500" dirty="0"/>
          </a:p>
        </p:txBody>
      </p:sp>
      <p:sp>
        <p:nvSpPr>
          <p:cNvPr id="18" name="Text 16"/>
          <p:cNvSpPr txBox="1"/>
          <p:nvPr/>
        </p:nvSpPr>
        <p:spPr>
          <a:xfrm>
            <a:off x="6400800" y="3246120"/>
            <a:ext cx="4937760" cy="41148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Our challenge question</a:t>
            </a:r>
            <a:endParaRPr lang="en-US" sz="2000" dirty="0"/>
          </a:p>
        </p:txBody>
      </p:sp>
      <p:sp>
        <p:nvSpPr>
          <p:cNvPr id="19" name="Text 17"/>
          <p:cNvSpPr txBox="1"/>
          <p:nvPr/>
        </p:nvSpPr>
        <p:spPr>
          <a:xfrm>
            <a:off x="6400800" y="3749040"/>
            <a:ext cx="4937760" cy="2194560"/>
          </a:xfrm>
          <a:prstGeom prst="rect">
            <a:avLst/>
          </a:prstGeom>
          <a:noFill/>
          <a:ln/>
        </p:spPr>
        <p:txBody>
          <a:bodyPr wrap="square" lIns="0" tIns="0" rIns="0" bIns="0" rtlCol="0" anchor="t"/>
          <a:lstStyle/>
          <a:p>
            <a:pPr indent="0" marL="0">
              <a:buNone/>
            </a:pPr>
            <a:r>
              <a:rPr lang="en-US" sz="1600" i="1" dirty="0">
                <a:solidFill>
                  <a:srgbClr val="0F766E"/>
                </a:solidFill>
                <a:latin typeface="Calibri" pitchFamily="34" charset="0"/>
                <a:ea typeface="Calibri" pitchFamily="34" charset="-122"/>
                <a:cs typeface="Calibri" pitchFamily="34" charset="-120"/>
              </a:rPr>
              <a:t>Can a virtual replica of each patient - built from their EHR and continuously updated from wearables - predict a new glucose spike above 180 mg/dL up to 2 hours ahead, early and accurately enough for a care team to act?</a:t>
            </a:r>
            <a:endParaRPr lang="en-US" sz="16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The use case: predict, explain, act</a:t>
            </a:r>
            <a:endParaRPr lang="en-US" sz="3400" dirty="0"/>
          </a:p>
        </p:txBody>
      </p:sp>
      <p:sp>
        <p:nvSpPr>
          <p:cNvPr id="3" name="step-0"/>
          <p:cNvSpPr/>
          <p:nvPr/>
        </p:nvSpPr>
        <p:spPr>
          <a:xfrm>
            <a:off x="548640" y="1417320"/>
            <a:ext cx="3520440" cy="3291840"/>
          </a:xfrm>
          <a:prstGeom prst="roundRect">
            <a:avLst>
              <a:gd name="adj" fmla="val 3333"/>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bell"/>
          <p:cNvSpPr/>
          <p:nvPr/>
        </p:nvSpPr>
        <p:spPr>
          <a:xfrm>
            <a:off x="822960" y="1645920"/>
            <a:ext cx="685800" cy="685800"/>
          </a:xfrm>
          <a:prstGeom prst="ellipse">
            <a:avLst/>
          </a:prstGeom>
          <a:solidFill>
            <a:srgbClr val="0F766E"/>
          </a:solidFill>
          <a:ln w="12700">
            <a:solidFill>
              <a:srgbClr val="0F766E"/>
            </a:solidFill>
            <a:prstDash val="solid"/>
          </a:ln>
        </p:spPr>
      </p:sp>
      <p:pic>
        <p:nvPicPr>
          <p:cNvPr id="5" name="icon-bell" descr="preencoded.png">    </p:cNvPr>
          <p:cNvPicPr>
            <a:picLocks noChangeAspect="1"/>
          </p:cNvPicPr>
          <p:nvPr/>
        </p:nvPicPr>
        <p:blipFill>
          <a:blip r:embed="rId1"/>
          <a:stretch>
            <a:fillRect/>
          </a:stretch>
        </p:blipFill>
        <p:spPr>
          <a:xfrm>
            <a:off x="973836" y="1796796"/>
            <a:ext cx="384048" cy="384048"/>
          </a:xfrm>
          <a:prstGeom prst="rect">
            <a:avLst/>
          </a:prstGeom>
        </p:spPr>
      </p:pic>
      <p:sp>
        <p:nvSpPr>
          <p:cNvPr id="6" name="Text 3"/>
          <p:cNvSpPr txBox="1"/>
          <p:nvPr/>
        </p:nvSpPr>
        <p:spPr>
          <a:xfrm>
            <a:off x="1691640" y="1737360"/>
            <a:ext cx="2194560" cy="50292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Predict</a:t>
            </a:r>
            <a:endParaRPr lang="en-US" sz="2400" dirty="0"/>
          </a:p>
        </p:txBody>
      </p:sp>
      <p:sp>
        <p:nvSpPr>
          <p:cNvPr id="7" name="Text 4"/>
          <p:cNvSpPr txBox="1"/>
          <p:nvPr/>
        </p:nvSpPr>
        <p:spPr>
          <a:xfrm>
            <a:off x="822960" y="2560320"/>
            <a:ext cx="3017520" cy="2011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Every 5 minutes the twin estimates the probability of a new spike above 180 mg/dL within 2 hours, plus 30/60/120-min glucose forecasts with 80% intervals.</a:t>
            </a:r>
            <a:endParaRPr lang="en-US" sz="1500" dirty="0"/>
          </a:p>
        </p:txBody>
      </p:sp>
      <p:sp>
        <p:nvSpPr>
          <p:cNvPr id="8" name="step-1"/>
          <p:cNvSpPr/>
          <p:nvPr/>
        </p:nvSpPr>
        <p:spPr>
          <a:xfrm>
            <a:off x="4297680" y="1417320"/>
            <a:ext cx="3520440" cy="3291840"/>
          </a:xfrm>
          <a:prstGeom prst="roundRect">
            <a:avLst>
              <a:gd name="adj" fmla="val 3333"/>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icon-bg-brain"/>
          <p:cNvSpPr/>
          <p:nvPr/>
        </p:nvSpPr>
        <p:spPr>
          <a:xfrm>
            <a:off x="4572000" y="1645920"/>
            <a:ext cx="685800" cy="685800"/>
          </a:xfrm>
          <a:prstGeom prst="ellipse">
            <a:avLst/>
          </a:prstGeom>
          <a:solidFill>
            <a:srgbClr val="0F766E"/>
          </a:solidFill>
          <a:ln w="12700">
            <a:solidFill>
              <a:srgbClr val="0F766E"/>
            </a:solidFill>
            <a:prstDash val="solid"/>
          </a:ln>
        </p:spPr>
      </p:sp>
      <p:pic>
        <p:nvPicPr>
          <p:cNvPr id="10" name="icon-brain" descr="preencoded.png">    </p:cNvPr>
          <p:cNvPicPr>
            <a:picLocks noChangeAspect="1"/>
          </p:cNvPicPr>
          <p:nvPr/>
        </p:nvPicPr>
        <p:blipFill>
          <a:blip r:embed="rId2"/>
          <a:stretch>
            <a:fillRect/>
          </a:stretch>
        </p:blipFill>
        <p:spPr>
          <a:xfrm>
            <a:off x="4722876" y="1796796"/>
            <a:ext cx="384048" cy="384048"/>
          </a:xfrm>
          <a:prstGeom prst="rect">
            <a:avLst/>
          </a:prstGeom>
        </p:spPr>
      </p:pic>
      <p:sp>
        <p:nvSpPr>
          <p:cNvPr id="11" name="Text 7"/>
          <p:cNvSpPr txBox="1"/>
          <p:nvPr/>
        </p:nvSpPr>
        <p:spPr>
          <a:xfrm>
            <a:off x="5440680" y="1737360"/>
            <a:ext cx="2194560" cy="50292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Explain</a:t>
            </a:r>
            <a:endParaRPr lang="en-US" sz="2400" dirty="0"/>
          </a:p>
        </p:txBody>
      </p:sp>
      <p:sp>
        <p:nvSpPr>
          <p:cNvPr id="12" name="Text 8"/>
          <p:cNvSpPr txBox="1"/>
          <p:nvPr/>
        </p:nvSpPr>
        <p:spPr>
          <a:xfrm>
            <a:off x="4572000" y="2560320"/>
            <a:ext cx="3017520" cy="2011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Each alert lists its drivers in plain language - e.g. a rice-heavy lunch, 4.5 h of sleep, no walk, high insulin resistance - from exact SHAP contributions.</a:t>
            </a:r>
            <a:endParaRPr lang="en-US" sz="1500" dirty="0"/>
          </a:p>
        </p:txBody>
      </p:sp>
      <p:sp>
        <p:nvSpPr>
          <p:cNvPr id="13" name="step-2"/>
          <p:cNvSpPr/>
          <p:nvPr/>
        </p:nvSpPr>
        <p:spPr>
          <a:xfrm>
            <a:off x="8046720" y="1417320"/>
            <a:ext cx="3520440" cy="3291840"/>
          </a:xfrm>
          <a:prstGeom prst="roundRect">
            <a:avLst>
              <a:gd name="adj" fmla="val 3333"/>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4" name="icon-bg-flask"/>
          <p:cNvSpPr/>
          <p:nvPr/>
        </p:nvSpPr>
        <p:spPr>
          <a:xfrm>
            <a:off x="8321040" y="1645920"/>
            <a:ext cx="685800" cy="685800"/>
          </a:xfrm>
          <a:prstGeom prst="ellipse">
            <a:avLst/>
          </a:prstGeom>
          <a:solidFill>
            <a:srgbClr val="0F766E"/>
          </a:solidFill>
          <a:ln w="12700">
            <a:solidFill>
              <a:srgbClr val="0F766E"/>
            </a:solidFill>
            <a:prstDash val="solid"/>
          </a:ln>
        </p:spPr>
      </p:sp>
      <p:pic>
        <p:nvPicPr>
          <p:cNvPr id="15" name="icon-flask" descr="preencoded.png">    </p:cNvPr>
          <p:cNvPicPr>
            <a:picLocks noChangeAspect="1"/>
          </p:cNvPicPr>
          <p:nvPr/>
        </p:nvPicPr>
        <p:blipFill>
          <a:blip r:embed="rId3"/>
          <a:stretch>
            <a:fillRect/>
          </a:stretch>
        </p:blipFill>
        <p:spPr>
          <a:xfrm>
            <a:off x="8471916" y="1796796"/>
            <a:ext cx="384048" cy="384048"/>
          </a:xfrm>
          <a:prstGeom prst="rect">
            <a:avLst/>
          </a:prstGeom>
        </p:spPr>
      </p:pic>
      <p:sp>
        <p:nvSpPr>
          <p:cNvPr id="16" name="Text 11"/>
          <p:cNvSpPr txBox="1"/>
          <p:nvPr/>
        </p:nvSpPr>
        <p:spPr>
          <a:xfrm>
            <a:off x="9189720" y="1737360"/>
            <a:ext cx="2194560" cy="502920"/>
          </a:xfrm>
          <a:prstGeom prst="rect">
            <a:avLst/>
          </a:prstGeom>
          <a:noFill/>
          <a:ln/>
        </p:spPr>
        <p:txBody>
          <a:bodyPr wrap="square" lIns="0" tIns="0" rIns="0" bIns="0" rtlCol="0" anchor="ctr"/>
          <a:lstStyle/>
          <a:p>
            <a:pPr indent="0" marL="0">
              <a:buNone/>
            </a:pPr>
            <a:r>
              <a:rPr lang="en-US" sz="2400" b="1" dirty="0">
                <a:solidFill>
                  <a:srgbClr val="0F172A"/>
                </a:solidFill>
                <a:latin typeface="Cambria" pitchFamily="34" charset="0"/>
                <a:ea typeface="Cambria" pitchFamily="34" charset="-122"/>
                <a:cs typeface="Cambria" pitchFamily="34" charset="-120"/>
              </a:rPr>
              <a:t>Act</a:t>
            </a:r>
            <a:endParaRPr lang="en-US" sz="2400" dirty="0"/>
          </a:p>
        </p:txBody>
      </p:sp>
      <p:sp>
        <p:nvSpPr>
          <p:cNvPr id="17" name="Text 12"/>
          <p:cNvSpPr txBox="1"/>
          <p:nvPr/>
        </p:nvSpPr>
        <p:spPr>
          <a:xfrm>
            <a:off x="8321040" y="2560320"/>
            <a:ext cx="3017520" cy="2011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The doctor or diabetes educator tests options on the virtual patient - smaller portion, millet swap, 15-min walk - and counsels with evidence.</a:t>
            </a:r>
            <a:endParaRPr lang="en-US" sz="1500" dirty="0"/>
          </a:p>
        </p:txBody>
      </p:sp>
      <p:sp>
        <p:nvSpPr>
          <p:cNvPr id="18" name="icon-bg-user"/>
          <p:cNvSpPr/>
          <p:nvPr/>
        </p:nvSpPr>
        <p:spPr>
          <a:xfrm>
            <a:off x="548640" y="5074920"/>
            <a:ext cx="566928" cy="566928"/>
          </a:xfrm>
          <a:prstGeom prst="ellipse">
            <a:avLst/>
          </a:prstGeom>
          <a:solidFill>
            <a:srgbClr val="D97706"/>
          </a:solidFill>
          <a:ln w="12700">
            <a:solidFill>
              <a:srgbClr val="D97706"/>
            </a:solidFill>
            <a:prstDash val="solid"/>
          </a:ln>
        </p:spPr>
      </p:sp>
      <p:pic>
        <p:nvPicPr>
          <p:cNvPr id="19" name="icon-user" descr="preencoded.png">    </p:cNvPr>
          <p:cNvPicPr>
            <a:picLocks noChangeAspect="1"/>
          </p:cNvPicPr>
          <p:nvPr/>
        </p:nvPicPr>
        <p:blipFill>
          <a:blip r:embed="rId4"/>
          <a:stretch>
            <a:fillRect/>
          </a:stretch>
        </p:blipFill>
        <p:spPr>
          <a:xfrm>
            <a:off x="673364" y="5199644"/>
            <a:ext cx="317480" cy="317480"/>
          </a:xfrm>
          <a:prstGeom prst="rect">
            <a:avLst/>
          </a:prstGeom>
        </p:spPr>
      </p:pic>
      <p:sp>
        <p:nvSpPr>
          <p:cNvPr id="20" name="Text 14"/>
          <p:cNvSpPr txBox="1"/>
          <p:nvPr/>
        </p:nvSpPr>
        <p:spPr>
          <a:xfrm>
            <a:off x="1280160" y="4983480"/>
            <a:ext cx="10332720" cy="7772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Who uses it: </a:t>
            </a:r>
            <a:pPr indent="0" marL="0">
              <a:buNone/>
            </a:pPr>
            <a:r>
              <a:rPr lang="en-US" sz="1500" dirty="0">
                <a:solidFill>
                  <a:srgbClr val="0F172A"/>
                </a:solidFill>
                <a:latin typeface="Calibri" pitchFamily="34" charset="0"/>
                <a:ea typeface="Calibri" pitchFamily="34" charset="-122"/>
                <a:cs typeface="Calibri" pitchFamily="34" charset="-120"/>
              </a:rPr>
              <a:t>endocrinologists, physicians and diabetes educators running remote-monitoring programmes for patients who wear a CGM and a smartwatch. Decision support only - not automated dosing.</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Architecture: five layers, from raw data to clinician</a:t>
            </a:r>
            <a:endParaRPr lang="en-US" sz="3400" dirty="0"/>
          </a:p>
        </p:txBody>
      </p:sp>
      <p:pic>
        <p:nvPicPr>
          <p:cNvPr id="3" name="Image 0" descr="C:\Users\Nakul Grover\OneDrive\Desktop\GymBro_IIITDelhi\docs\figures\architecture.png">    </p:cNvPr>
          <p:cNvPicPr>
            <a:picLocks noChangeAspect="1"/>
          </p:cNvPicPr>
          <p:nvPr/>
        </p:nvPicPr>
        <p:blipFill>
          <a:blip r:embed="rId1"/>
          <a:stretch>
            <a:fillRect/>
          </a:stretch>
        </p:blipFill>
        <p:spPr>
          <a:xfrm>
            <a:off x="1546860" y="1188720"/>
            <a:ext cx="9067800" cy="5120640"/>
          </a:xfrm>
          <a:prstGeom prst="rect">
            <a:avLst/>
          </a:prstGeom>
        </p:spPr>
      </p:pic>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Two data streams, fused on one timeline</a:t>
            </a:r>
            <a:endParaRPr lang="en-US" sz="3400" dirty="0"/>
          </a:p>
        </p:txBody>
      </p:sp>
      <p:sp>
        <p:nvSpPr>
          <p:cNvPr id="3" name="ehr-card"/>
          <p:cNvSpPr/>
          <p:nvPr/>
        </p:nvSpPr>
        <p:spPr>
          <a:xfrm>
            <a:off x="548640" y="1280160"/>
            <a:ext cx="3931920" cy="4937760"/>
          </a:xfrm>
          <a:prstGeom prst="roundRect">
            <a:avLst>
              <a:gd name="adj" fmla="val 2791"/>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db"/>
          <p:cNvSpPr/>
          <p:nvPr/>
        </p:nvSpPr>
        <p:spPr>
          <a:xfrm>
            <a:off x="777240" y="1463040"/>
            <a:ext cx="548640" cy="548640"/>
          </a:xfrm>
          <a:prstGeom prst="ellipse">
            <a:avLst/>
          </a:prstGeom>
          <a:solidFill>
            <a:srgbClr val="CCEDE8"/>
          </a:solidFill>
          <a:ln w="12700">
            <a:solidFill>
              <a:srgbClr val="CCEDE8"/>
            </a:solidFill>
            <a:prstDash val="solid"/>
          </a:ln>
        </p:spPr>
      </p:sp>
      <p:pic>
        <p:nvPicPr>
          <p:cNvPr id="5" name="icon-db" descr="preencoded.png">    </p:cNvPr>
          <p:cNvPicPr>
            <a:picLocks noChangeAspect="1"/>
          </p:cNvPicPr>
          <p:nvPr/>
        </p:nvPicPr>
        <p:blipFill>
          <a:blip r:embed="rId1"/>
          <a:stretch>
            <a:fillRect/>
          </a:stretch>
        </p:blipFill>
        <p:spPr>
          <a:xfrm>
            <a:off x="897941" y="1583741"/>
            <a:ext cx="307238" cy="307238"/>
          </a:xfrm>
          <a:prstGeom prst="rect">
            <a:avLst/>
          </a:prstGeom>
        </p:spPr>
      </p:pic>
      <p:sp>
        <p:nvSpPr>
          <p:cNvPr id="6" name="Text 3"/>
          <p:cNvSpPr txBox="1"/>
          <p:nvPr/>
        </p:nvSpPr>
        <p:spPr>
          <a:xfrm>
            <a:off x="1463040" y="1508760"/>
            <a:ext cx="2926080" cy="45720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Static: EHR (synthetic)</a:t>
            </a:r>
            <a:endParaRPr lang="en-US" sz="1800" dirty="0"/>
          </a:p>
        </p:txBody>
      </p:sp>
      <p:sp>
        <p:nvSpPr>
          <p:cNvPr id="7" name="Text 4"/>
          <p:cNvSpPr/>
          <p:nvPr/>
        </p:nvSpPr>
        <p:spPr>
          <a:xfrm>
            <a:off x="777240" y="2148840"/>
            <a:ext cx="3566160" cy="3931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200 virtual Indian patients, FHIR R4 bundles</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ICD-10 diagnoses, LOINC-coded labs + 2-year history</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Medicines: metformin, sulfonylurea, DPP-4, premixed insulin</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Genetic markers: TCF7L2, KCNQ1, polygenic risk</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Real-world track: ShanghaiT2DM clinical summaries (100 people)</a:t>
            </a:r>
            <a:endParaRPr lang="en-US" sz="1300" dirty="0"/>
          </a:p>
        </p:txBody>
      </p:sp>
      <p:pic>
        <p:nvPicPr>
          <p:cNvPr id="8" name="Image 1" descr="C:\Users\Nakul Grover\OneDrive\Desktop\GymBro_IIITDelhi\docs\figures\data_streams.png">    </p:cNvPr>
          <p:cNvPicPr>
            <a:picLocks noChangeAspect="1"/>
          </p:cNvPicPr>
          <p:nvPr/>
        </p:nvPicPr>
        <p:blipFill>
          <a:blip r:embed="rId2"/>
          <a:stretch>
            <a:fillRect/>
          </a:stretch>
        </p:blipFill>
        <p:spPr>
          <a:xfrm>
            <a:off x="4796893" y="1280160"/>
            <a:ext cx="6728254" cy="4526280"/>
          </a:xfrm>
          <a:prstGeom prst="rect">
            <a:avLst/>
          </a:prstGeom>
        </p:spPr>
      </p:pic>
      <p:sp>
        <p:nvSpPr>
          <p:cNvPr id="9" name="Text 5"/>
          <p:cNvSpPr txBox="1"/>
          <p:nvPr/>
        </p:nvSpPr>
        <p:spPr>
          <a:xfrm>
            <a:off x="4709160" y="5852160"/>
            <a:ext cx="6903720" cy="36576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Dynamic stream (5-min): CGM · steps · heart rate · HRV · sleep stages + meal &amp; medicine logs</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Built for Indian patients, not adapted from elsewhere</a:t>
            </a:r>
            <a:endParaRPr lang="en-US" sz="3400" dirty="0"/>
          </a:p>
        </p:txBody>
      </p:sp>
      <p:sp>
        <p:nvSpPr>
          <p:cNvPr id="3" name="india-0"/>
          <p:cNvSpPr/>
          <p:nvPr/>
        </p:nvSpPr>
        <p:spPr>
          <a:xfrm>
            <a:off x="548640" y="137160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food"/>
          <p:cNvSpPr/>
          <p:nvPr/>
        </p:nvSpPr>
        <p:spPr>
          <a:xfrm>
            <a:off x="777240" y="1600200"/>
            <a:ext cx="566928" cy="566928"/>
          </a:xfrm>
          <a:prstGeom prst="ellipse">
            <a:avLst/>
          </a:prstGeom>
          <a:solidFill>
            <a:srgbClr val="CCEDE8"/>
          </a:solidFill>
          <a:ln w="12700">
            <a:solidFill>
              <a:srgbClr val="CCEDE8"/>
            </a:solidFill>
            <a:prstDash val="solid"/>
          </a:ln>
        </p:spPr>
      </p:sp>
      <p:pic>
        <p:nvPicPr>
          <p:cNvPr id="5" name="icon-food"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508760" y="164592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Regional menus</a:t>
            </a:r>
            <a:endParaRPr lang="en-US" sz="1800" dirty="0"/>
          </a:p>
        </p:txBody>
      </p:sp>
      <p:sp>
        <p:nvSpPr>
          <p:cNvPr id="7" name="Text 4"/>
          <p:cNvSpPr txBox="1"/>
          <p:nvPr/>
        </p:nvSpPr>
        <p:spPr>
          <a:xfrm>
            <a:off x="777240" y="228600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35 dishes - idli, poha, paratha, rajma chawal, ragi mudde, biryani - with carbs and glycaemic index</a:t>
            </a:r>
            <a:endParaRPr lang="en-US" sz="1400" dirty="0"/>
          </a:p>
        </p:txBody>
      </p:sp>
      <p:sp>
        <p:nvSpPr>
          <p:cNvPr id="8" name="india-1"/>
          <p:cNvSpPr/>
          <p:nvPr/>
        </p:nvSpPr>
        <p:spPr>
          <a:xfrm>
            <a:off x="4297680" y="137160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icon-bg-bmi"/>
          <p:cNvSpPr/>
          <p:nvPr/>
        </p:nvSpPr>
        <p:spPr>
          <a:xfrm>
            <a:off x="4526280" y="1600200"/>
            <a:ext cx="566928" cy="566928"/>
          </a:xfrm>
          <a:prstGeom prst="ellipse">
            <a:avLst/>
          </a:prstGeom>
          <a:solidFill>
            <a:srgbClr val="CCEDE8"/>
          </a:solidFill>
          <a:ln w="12700">
            <a:solidFill>
              <a:srgbClr val="CCEDE8"/>
            </a:solidFill>
            <a:prstDash val="solid"/>
          </a:ln>
        </p:spPr>
      </p:sp>
      <p:pic>
        <p:nvPicPr>
          <p:cNvPr id="10" name="icon-bmi" descr="preencoded.png">    </p:cNvPr>
          <p:cNvPicPr>
            <a:picLocks noChangeAspect="1"/>
          </p:cNvPicPr>
          <p:nvPr/>
        </p:nvPicPr>
        <p:blipFill>
          <a:blip r:embed="rId2"/>
          <a:stretch>
            <a:fillRect/>
          </a:stretch>
        </p:blipFill>
        <p:spPr>
          <a:xfrm>
            <a:off x="4651004" y="1724924"/>
            <a:ext cx="317480" cy="317480"/>
          </a:xfrm>
          <a:prstGeom prst="rect">
            <a:avLst/>
          </a:prstGeom>
        </p:spPr>
      </p:pic>
      <p:sp>
        <p:nvSpPr>
          <p:cNvPr id="11" name="Text 7"/>
          <p:cNvSpPr txBox="1"/>
          <p:nvPr/>
        </p:nvSpPr>
        <p:spPr>
          <a:xfrm>
            <a:off x="5257800" y="164592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Asian phenotype</a:t>
            </a:r>
            <a:endParaRPr lang="en-US" sz="1800" dirty="0"/>
          </a:p>
        </p:txBody>
      </p:sp>
      <p:sp>
        <p:nvSpPr>
          <p:cNvPr id="12" name="Text 8"/>
          <p:cNvSpPr txBox="1"/>
          <p:nvPr/>
        </p:nvSpPr>
        <p:spPr>
          <a:xfrm>
            <a:off x="4526280" y="228600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Asian BMI cut-offs and the 'thin-fat' profile: high insulin resistance at modest BMI</a:t>
            </a:r>
            <a:endParaRPr lang="en-US" sz="1400" dirty="0"/>
          </a:p>
        </p:txBody>
      </p:sp>
      <p:sp>
        <p:nvSpPr>
          <p:cNvPr id="13" name="india-2"/>
          <p:cNvSpPr/>
          <p:nvPr/>
        </p:nvSpPr>
        <p:spPr>
          <a:xfrm>
            <a:off x="8046720" y="137160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4" name="icon-bg-pills"/>
          <p:cNvSpPr/>
          <p:nvPr/>
        </p:nvSpPr>
        <p:spPr>
          <a:xfrm>
            <a:off x="8275320" y="1600200"/>
            <a:ext cx="566928" cy="566928"/>
          </a:xfrm>
          <a:prstGeom prst="ellipse">
            <a:avLst/>
          </a:prstGeom>
          <a:solidFill>
            <a:srgbClr val="CCEDE8"/>
          </a:solidFill>
          <a:ln w="12700">
            <a:solidFill>
              <a:srgbClr val="CCEDE8"/>
            </a:solidFill>
            <a:prstDash val="solid"/>
          </a:ln>
        </p:spPr>
      </p:sp>
      <p:pic>
        <p:nvPicPr>
          <p:cNvPr id="15" name="icon-pills" descr="preencoded.png">    </p:cNvPr>
          <p:cNvPicPr>
            <a:picLocks noChangeAspect="1"/>
          </p:cNvPicPr>
          <p:nvPr/>
        </p:nvPicPr>
        <p:blipFill>
          <a:blip r:embed="rId3"/>
          <a:stretch>
            <a:fillRect/>
          </a:stretch>
        </p:blipFill>
        <p:spPr>
          <a:xfrm>
            <a:off x="8400044" y="1724924"/>
            <a:ext cx="317480" cy="317480"/>
          </a:xfrm>
          <a:prstGeom prst="rect">
            <a:avLst/>
          </a:prstGeom>
        </p:spPr>
      </p:pic>
      <p:sp>
        <p:nvSpPr>
          <p:cNvPr id="16" name="Text 11"/>
          <p:cNvSpPr txBox="1"/>
          <p:nvPr/>
        </p:nvSpPr>
        <p:spPr>
          <a:xfrm>
            <a:off x="9006840" y="164592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Indian prescribing</a:t>
            </a:r>
            <a:endParaRPr lang="en-US" sz="1800" dirty="0"/>
          </a:p>
        </p:txBody>
      </p:sp>
      <p:sp>
        <p:nvSpPr>
          <p:cNvPr id="17" name="Text 12"/>
          <p:cNvSpPr txBox="1"/>
          <p:nvPr/>
        </p:nvSpPr>
        <p:spPr>
          <a:xfrm>
            <a:off x="8275320" y="228600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Metformin, glimepiride, teneligliptin, premixed 30/70 insulin, as commonly prescribed</a:t>
            </a:r>
            <a:endParaRPr lang="en-US" sz="1400" dirty="0"/>
          </a:p>
        </p:txBody>
      </p:sp>
      <p:sp>
        <p:nvSpPr>
          <p:cNvPr id="18" name="india-3"/>
          <p:cNvSpPr/>
          <p:nvPr/>
        </p:nvSpPr>
        <p:spPr>
          <a:xfrm>
            <a:off x="548640" y="379476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9" name="icon-bg-chai"/>
          <p:cNvSpPr/>
          <p:nvPr/>
        </p:nvSpPr>
        <p:spPr>
          <a:xfrm>
            <a:off x="777240" y="4023360"/>
            <a:ext cx="566928" cy="566928"/>
          </a:xfrm>
          <a:prstGeom prst="ellipse">
            <a:avLst/>
          </a:prstGeom>
          <a:solidFill>
            <a:srgbClr val="CCEDE8"/>
          </a:solidFill>
          <a:ln w="12700">
            <a:solidFill>
              <a:srgbClr val="CCEDE8"/>
            </a:solidFill>
            <a:prstDash val="solid"/>
          </a:ln>
        </p:spPr>
      </p:sp>
      <p:pic>
        <p:nvPicPr>
          <p:cNvPr id="20" name="icon-chai" descr="preencoded.png">    </p:cNvPr>
          <p:cNvPicPr>
            <a:picLocks noChangeAspect="1"/>
          </p:cNvPicPr>
          <p:nvPr/>
        </p:nvPicPr>
        <p:blipFill>
          <a:blip r:embed="rId4"/>
          <a:stretch>
            <a:fillRect/>
          </a:stretch>
        </p:blipFill>
        <p:spPr>
          <a:xfrm>
            <a:off x="901964" y="4148084"/>
            <a:ext cx="317480" cy="317480"/>
          </a:xfrm>
          <a:prstGeom prst="rect">
            <a:avLst/>
          </a:prstGeom>
        </p:spPr>
      </p:pic>
      <p:sp>
        <p:nvSpPr>
          <p:cNvPr id="21" name="Text 15"/>
          <p:cNvSpPr txBox="1"/>
          <p:nvPr/>
        </p:nvSpPr>
        <p:spPr>
          <a:xfrm>
            <a:off x="1508760" y="406908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Daily rhythm</a:t>
            </a:r>
            <a:endParaRPr lang="en-US" sz="1800" dirty="0"/>
          </a:p>
        </p:txBody>
      </p:sp>
      <p:sp>
        <p:nvSpPr>
          <p:cNvPr id="22" name="Text 16"/>
          <p:cNvSpPr txBox="1"/>
          <p:nvPr/>
        </p:nvSpPr>
        <p:spPr>
          <a:xfrm>
            <a:off x="777240" y="470916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Sweet chai at 5 pm, dinner after 8.30 pm, weekend shifts, desk-job stress days</a:t>
            </a:r>
            <a:endParaRPr lang="en-US" sz="1400" dirty="0"/>
          </a:p>
        </p:txBody>
      </p:sp>
      <p:sp>
        <p:nvSpPr>
          <p:cNvPr id="23" name="india-4"/>
          <p:cNvSpPr/>
          <p:nvPr/>
        </p:nvSpPr>
        <p:spPr>
          <a:xfrm>
            <a:off x="4297680" y="379476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4" name="icon-bg-sweet"/>
          <p:cNvSpPr/>
          <p:nvPr/>
        </p:nvSpPr>
        <p:spPr>
          <a:xfrm>
            <a:off x="4526280" y="4023360"/>
            <a:ext cx="566928" cy="566928"/>
          </a:xfrm>
          <a:prstGeom prst="ellipse">
            <a:avLst/>
          </a:prstGeom>
          <a:solidFill>
            <a:srgbClr val="CCEDE8"/>
          </a:solidFill>
          <a:ln w="12700">
            <a:solidFill>
              <a:srgbClr val="CCEDE8"/>
            </a:solidFill>
            <a:prstDash val="solid"/>
          </a:ln>
        </p:spPr>
      </p:sp>
      <p:pic>
        <p:nvPicPr>
          <p:cNvPr id="25" name="icon-sweet" descr="preencoded.png">    </p:cNvPr>
          <p:cNvPicPr>
            <a:picLocks noChangeAspect="1"/>
          </p:cNvPicPr>
          <p:nvPr/>
        </p:nvPicPr>
        <p:blipFill>
          <a:blip r:embed="rId5"/>
          <a:stretch>
            <a:fillRect/>
          </a:stretch>
        </p:blipFill>
        <p:spPr>
          <a:xfrm>
            <a:off x="4651004" y="4148084"/>
            <a:ext cx="317480" cy="317480"/>
          </a:xfrm>
          <a:prstGeom prst="rect">
            <a:avLst/>
          </a:prstGeom>
        </p:spPr>
      </p:pic>
      <p:sp>
        <p:nvSpPr>
          <p:cNvPr id="26" name="Text 19"/>
          <p:cNvSpPr txBox="1"/>
          <p:nvPr/>
        </p:nvSpPr>
        <p:spPr>
          <a:xfrm>
            <a:off x="5257800" y="406908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Festivals &amp; adherence</a:t>
            </a:r>
            <a:endParaRPr lang="en-US" sz="1800" dirty="0"/>
          </a:p>
        </p:txBody>
      </p:sp>
      <p:sp>
        <p:nvSpPr>
          <p:cNvPr id="27" name="Text 20"/>
          <p:cNvSpPr txBox="1"/>
          <p:nvPr/>
        </p:nvSpPr>
        <p:spPr>
          <a:xfrm>
            <a:off x="4526280" y="470916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Mithai days, missed metformin doses and imperfect meal logging</a:t>
            </a:r>
            <a:endParaRPr lang="en-US" sz="1400" dirty="0"/>
          </a:p>
        </p:txBody>
      </p:sp>
      <p:sp>
        <p:nvSpPr>
          <p:cNvPr id="28" name="india-5"/>
          <p:cNvSpPr/>
          <p:nvPr/>
        </p:nvSpPr>
        <p:spPr>
          <a:xfrm>
            <a:off x="8046720" y="3794760"/>
            <a:ext cx="3520440" cy="2194560"/>
          </a:xfrm>
          <a:prstGeom prst="roundRect">
            <a:avLst>
              <a:gd name="adj" fmla="val 5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9" name="icon-bg-dna"/>
          <p:cNvSpPr/>
          <p:nvPr/>
        </p:nvSpPr>
        <p:spPr>
          <a:xfrm>
            <a:off x="8275320" y="4023360"/>
            <a:ext cx="566928" cy="566928"/>
          </a:xfrm>
          <a:prstGeom prst="ellipse">
            <a:avLst/>
          </a:prstGeom>
          <a:solidFill>
            <a:srgbClr val="CCEDE8"/>
          </a:solidFill>
          <a:ln w="12700">
            <a:solidFill>
              <a:srgbClr val="CCEDE8"/>
            </a:solidFill>
            <a:prstDash val="solid"/>
          </a:ln>
        </p:spPr>
      </p:sp>
      <p:pic>
        <p:nvPicPr>
          <p:cNvPr id="30" name="icon-dna" descr="preencoded.png">    </p:cNvPr>
          <p:cNvPicPr>
            <a:picLocks noChangeAspect="1"/>
          </p:cNvPicPr>
          <p:nvPr/>
        </p:nvPicPr>
        <p:blipFill>
          <a:blip r:embed="rId6"/>
          <a:stretch>
            <a:fillRect/>
          </a:stretch>
        </p:blipFill>
        <p:spPr>
          <a:xfrm>
            <a:off x="8400044" y="4148084"/>
            <a:ext cx="317480" cy="317480"/>
          </a:xfrm>
          <a:prstGeom prst="rect">
            <a:avLst/>
          </a:prstGeom>
        </p:spPr>
      </p:pic>
      <p:sp>
        <p:nvSpPr>
          <p:cNvPr id="31" name="Text 23"/>
          <p:cNvSpPr txBox="1"/>
          <p:nvPr/>
        </p:nvSpPr>
        <p:spPr>
          <a:xfrm>
            <a:off x="9006840" y="4069080"/>
            <a:ext cx="2423160" cy="50292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Genetics</a:t>
            </a:r>
            <a:endParaRPr lang="en-US" sz="1800" dirty="0"/>
          </a:p>
        </p:txBody>
      </p:sp>
      <p:sp>
        <p:nvSpPr>
          <p:cNvPr id="32" name="Text 24"/>
          <p:cNvSpPr txBox="1"/>
          <p:nvPr/>
        </p:nvSpPr>
        <p:spPr>
          <a:xfrm>
            <a:off x="8275320" y="4709160"/>
            <a:ext cx="3108960" cy="11887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TCF7L2 and KCNQ1 variants relevant in South Asians lower beta-cell function</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The twin: a personal physiology that keeps learning</a:t>
            </a:r>
            <a:endParaRPr lang="en-US" sz="3400" dirty="0"/>
          </a:p>
        </p:txBody>
      </p:sp>
      <p:sp>
        <p:nvSpPr>
          <p:cNvPr id="3" name="icon-bg-cogs"/>
          <p:cNvSpPr/>
          <p:nvPr/>
        </p:nvSpPr>
        <p:spPr>
          <a:xfrm>
            <a:off x="548640" y="1417320"/>
            <a:ext cx="566928" cy="566928"/>
          </a:xfrm>
          <a:prstGeom prst="ellipse">
            <a:avLst/>
          </a:prstGeom>
          <a:solidFill>
            <a:srgbClr val="0F766E"/>
          </a:solidFill>
          <a:ln w="12700">
            <a:solidFill>
              <a:srgbClr val="0F766E"/>
            </a:solidFill>
            <a:prstDash val="solid"/>
          </a:ln>
        </p:spPr>
      </p:sp>
      <p:pic>
        <p:nvPicPr>
          <p:cNvPr id="4" name="icon-cogs" descr="preencoded.png">    </p:cNvPr>
          <p:cNvPicPr>
            <a:picLocks noChangeAspect="1"/>
          </p:cNvPicPr>
          <p:nvPr/>
        </p:nvPicPr>
        <p:blipFill>
          <a:blip r:embed="rId1"/>
          <a:stretch>
            <a:fillRect/>
          </a:stretch>
        </p:blipFill>
        <p:spPr>
          <a:xfrm>
            <a:off x="673364" y="1542044"/>
            <a:ext cx="317480" cy="317480"/>
          </a:xfrm>
          <a:prstGeom prst="rect">
            <a:avLst/>
          </a:prstGeom>
        </p:spPr>
      </p:pic>
      <p:sp>
        <p:nvSpPr>
          <p:cNvPr id="5" name="Text 2"/>
          <p:cNvSpPr txBox="1"/>
          <p:nvPr/>
        </p:nvSpPr>
        <p:spPr>
          <a:xfrm>
            <a:off x="1280160" y="1325880"/>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1  Prior from the EHR</a:t>
            </a:r>
            <a:endParaRPr lang="en-US" sz="1700" dirty="0"/>
          </a:p>
        </p:txBody>
      </p:sp>
      <p:sp>
        <p:nvSpPr>
          <p:cNvPr id="6" name="Text 3"/>
          <p:cNvSpPr txBox="1"/>
          <p:nvPr/>
        </p:nvSpPr>
        <p:spPr>
          <a:xfrm>
            <a:off x="1280160" y="1709928"/>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Fasting glucose and insulin (HOMA-IR, HOMA-B), weight, HbA1c, medicines and genotype initialise a glucose-insulin model</a:t>
            </a:r>
            <a:endParaRPr lang="en-US" sz="1300" dirty="0"/>
          </a:p>
        </p:txBody>
      </p:sp>
      <p:sp>
        <p:nvSpPr>
          <p:cNvPr id="7" name="icon-bg-sync"/>
          <p:cNvSpPr/>
          <p:nvPr/>
        </p:nvSpPr>
        <p:spPr>
          <a:xfrm>
            <a:off x="548640" y="2633472"/>
            <a:ext cx="566928" cy="566928"/>
          </a:xfrm>
          <a:prstGeom prst="ellipse">
            <a:avLst/>
          </a:prstGeom>
          <a:solidFill>
            <a:srgbClr val="0F766E"/>
          </a:solidFill>
          <a:ln w="12700">
            <a:solidFill>
              <a:srgbClr val="0F766E"/>
            </a:solidFill>
            <a:prstDash val="solid"/>
          </a:ln>
        </p:spPr>
      </p:sp>
      <p:pic>
        <p:nvPicPr>
          <p:cNvPr id="8" name="icon-sync" descr="preencoded.png">    </p:cNvPr>
          <p:cNvPicPr>
            <a:picLocks noChangeAspect="1"/>
          </p:cNvPicPr>
          <p:nvPr/>
        </p:nvPicPr>
        <p:blipFill>
          <a:blip r:embed="rId2"/>
          <a:stretch>
            <a:fillRect/>
          </a:stretch>
        </p:blipFill>
        <p:spPr>
          <a:xfrm>
            <a:off x="673364" y="2758196"/>
            <a:ext cx="317480" cy="317480"/>
          </a:xfrm>
          <a:prstGeom prst="rect">
            <a:avLst/>
          </a:prstGeom>
        </p:spPr>
      </p:pic>
      <p:sp>
        <p:nvSpPr>
          <p:cNvPr id="9" name="Text 5"/>
          <p:cNvSpPr txBox="1"/>
          <p:nvPr/>
        </p:nvSpPr>
        <p:spPr>
          <a:xfrm>
            <a:off x="1280160" y="2542032"/>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2  Nightly calibration</a:t>
            </a:r>
            <a:endParaRPr lang="en-US" sz="1700" dirty="0"/>
          </a:p>
        </p:txBody>
      </p:sp>
      <p:sp>
        <p:nvSpPr>
          <p:cNvPr id="10" name="Text 6"/>
          <p:cNvSpPr txBox="1"/>
          <p:nvPr/>
        </p:nvSpPr>
        <p:spPr>
          <a:xfrm>
            <a:off x="1280160" y="2926080"/>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cross-entropy search re-learns insulin sensitivity, meal response, basal glucose and dawn effect from yesterday's CGM</a:t>
            </a:r>
            <a:endParaRPr lang="en-US" sz="1300" dirty="0"/>
          </a:p>
        </p:txBody>
      </p:sp>
      <p:sp>
        <p:nvSpPr>
          <p:cNvPr id="11" name="icon-bg-heartW"/>
          <p:cNvSpPr/>
          <p:nvPr/>
        </p:nvSpPr>
        <p:spPr>
          <a:xfrm>
            <a:off x="548640" y="3849624"/>
            <a:ext cx="566928" cy="566928"/>
          </a:xfrm>
          <a:prstGeom prst="ellipse">
            <a:avLst/>
          </a:prstGeom>
          <a:solidFill>
            <a:srgbClr val="0F766E"/>
          </a:solidFill>
          <a:ln w="12700">
            <a:solidFill>
              <a:srgbClr val="0F766E"/>
            </a:solidFill>
            <a:prstDash val="solid"/>
          </a:ln>
        </p:spPr>
      </p:sp>
      <p:pic>
        <p:nvPicPr>
          <p:cNvPr id="12" name="icon-heartW" descr="preencoded.png">    </p:cNvPr>
          <p:cNvPicPr>
            <a:picLocks noChangeAspect="1"/>
          </p:cNvPicPr>
          <p:nvPr/>
        </p:nvPicPr>
        <p:blipFill>
          <a:blip r:embed="rId3"/>
          <a:stretch>
            <a:fillRect/>
          </a:stretch>
        </p:blipFill>
        <p:spPr>
          <a:xfrm>
            <a:off x="673364" y="3974348"/>
            <a:ext cx="317480" cy="317480"/>
          </a:xfrm>
          <a:prstGeom prst="rect">
            <a:avLst/>
          </a:prstGeom>
        </p:spPr>
      </p:pic>
      <p:sp>
        <p:nvSpPr>
          <p:cNvPr id="13" name="Text 8"/>
          <p:cNvSpPr txBox="1"/>
          <p:nvPr/>
        </p:nvSpPr>
        <p:spPr>
          <a:xfrm>
            <a:off x="1280160" y="3758184"/>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3  Live synchronisation</a:t>
            </a:r>
            <a:endParaRPr lang="en-US" sz="1700" dirty="0"/>
          </a:p>
        </p:txBody>
      </p:sp>
      <p:sp>
        <p:nvSpPr>
          <p:cNvPr id="14" name="Text 9"/>
          <p:cNvSpPr txBox="1"/>
          <p:nvPr/>
        </p:nvSpPr>
        <p:spPr>
          <a:xfrm>
            <a:off x="1280160" y="4142232"/>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An observer nudges the twin to every CGM reading and learns unexplained inputs such as unlogged snacks or stress</a:t>
            </a:r>
            <a:endParaRPr lang="en-US" sz="1300" dirty="0"/>
          </a:p>
        </p:txBody>
      </p:sp>
      <p:sp>
        <p:nvSpPr>
          <p:cNvPr id="15" name="icon-bg-chart"/>
          <p:cNvSpPr/>
          <p:nvPr/>
        </p:nvSpPr>
        <p:spPr>
          <a:xfrm>
            <a:off x="548640" y="5065776"/>
            <a:ext cx="566928" cy="566928"/>
          </a:xfrm>
          <a:prstGeom prst="ellipse">
            <a:avLst/>
          </a:prstGeom>
          <a:solidFill>
            <a:srgbClr val="0F766E"/>
          </a:solidFill>
          <a:ln w="12700">
            <a:solidFill>
              <a:srgbClr val="0F766E"/>
            </a:solidFill>
            <a:prstDash val="solid"/>
          </a:ln>
        </p:spPr>
      </p:sp>
      <p:pic>
        <p:nvPicPr>
          <p:cNvPr id="16" name="icon-chart" descr="preencoded.png">    </p:cNvPr>
          <p:cNvPicPr>
            <a:picLocks noChangeAspect="1"/>
          </p:cNvPicPr>
          <p:nvPr/>
        </p:nvPicPr>
        <p:blipFill>
          <a:blip r:embed="rId4"/>
          <a:stretch>
            <a:fillRect/>
          </a:stretch>
        </p:blipFill>
        <p:spPr>
          <a:xfrm>
            <a:off x="673364" y="5190500"/>
            <a:ext cx="317480" cy="317480"/>
          </a:xfrm>
          <a:prstGeom prst="rect">
            <a:avLst/>
          </a:prstGeom>
        </p:spPr>
      </p:pic>
      <p:sp>
        <p:nvSpPr>
          <p:cNvPr id="17" name="Text 11"/>
          <p:cNvSpPr txBox="1"/>
          <p:nvPr/>
        </p:nvSpPr>
        <p:spPr>
          <a:xfrm>
            <a:off x="1280160" y="4974336"/>
            <a:ext cx="4572000" cy="384048"/>
          </a:xfrm>
          <a:prstGeom prst="rect">
            <a:avLst/>
          </a:prstGeom>
          <a:noFill/>
          <a:ln/>
        </p:spPr>
        <p:txBody>
          <a:bodyPr wrap="square" lIns="0" tIns="0" rIns="0" bIns="0" rtlCol="0" anchor="ctr"/>
          <a:lstStyle/>
          <a:p>
            <a:pPr indent="0" marL="0">
              <a:buNone/>
            </a:pPr>
            <a:r>
              <a:rPr lang="en-US" sz="1700" b="1" dirty="0">
                <a:solidFill>
                  <a:srgbClr val="0F172A"/>
                </a:solidFill>
                <a:latin typeface="Cambria" pitchFamily="34" charset="0"/>
                <a:ea typeface="Cambria" pitchFamily="34" charset="-122"/>
                <a:cs typeface="Cambria" pitchFamily="34" charset="-120"/>
              </a:rPr>
              <a:t>4  Forecast &amp; what-if</a:t>
            </a:r>
            <a:endParaRPr lang="en-US" sz="1700" dirty="0"/>
          </a:p>
        </p:txBody>
      </p:sp>
      <p:sp>
        <p:nvSpPr>
          <p:cNvPr id="18" name="Text 12"/>
          <p:cNvSpPr txBox="1"/>
          <p:nvPr/>
        </p:nvSpPr>
        <p:spPr>
          <a:xfrm>
            <a:off x="1280160" y="5358384"/>
            <a:ext cx="4663440" cy="7772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From the synced state the twin simulates the next hours using its learned routine - or any change a doctor proposes</a:t>
            </a:r>
            <a:endParaRPr lang="en-US" sz="1300" dirty="0"/>
          </a:p>
        </p:txBody>
      </p:sp>
      <p:pic>
        <p:nvPicPr>
          <p:cNvPr id="19" name="Image 4" descr="C:\Users\Nakul Grover\OneDrive\Desktop\GymBro_IIITDelhi\docs\figures\twin_learning.png">    </p:cNvPr>
          <p:cNvPicPr>
            <a:picLocks noChangeAspect="1"/>
          </p:cNvPicPr>
          <p:nvPr/>
        </p:nvPicPr>
        <p:blipFill>
          <a:blip r:embed="rId5"/>
          <a:stretch>
            <a:fillRect/>
          </a:stretch>
        </p:blipFill>
        <p:spPr>
          <a:xfrm>
            <a:off x="6217920" y="1597457"/>
            <a:ext cx="5394960" cy="1834286"/>
          </a:xfrm>
          <a:prstGeom prst="rect">
            <a:avLst/>
          </a:prstGeom>
        </p:spPr>
      </p:pic>
      <p:sp>
        <p:nvSpPr>
          <p:cNvPr id="20" name="twin-proof"/>
          <p:cNvSpPr/>
          <p:nvPr/>
        </p:nvSpPr>
        <p:spPr>
          <a:xfrm>
            <a:off x="6217920" y="3977640"/>
            <a:ext cx="5394960" cy="2148840"/>
          </a:xfrm>
          <a:prstGeom prst="roundRect">
            <a:avLst>
              <a:gd name="adj" fmla="val 5106"/>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1" name="Text 14"/>
          <p:cNvSpPr txBox="1"/>
          <p:nvPr/>
        </p:nvSpPr>
        <p:spPr>
          <a:xfrm>
            <a:off x="6446520" y="4114800"/>
            <a:ext cx="4983480" cy="192024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Does it learn the hidden patient? </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Each virtual patient has a hidden true insulin sensitivity. The EHR alone predicts it with correlation 0.80; with nightly calibration the twin averages 0.88 and its median error falls from 19.0% to 17.1% (days 1-13). On real patients the synchronised twin alone already beats a "no change" forecast at every horizon.</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AI layer: fusion, honest uncertainty, explanations</a:t>
            </a:r>
            <a:endParaRPr lang="en-US" sz="3400" dirty="0"/>
          </a:p>
        </p:txBody>
      </p:sp>
      <p:graphicFrame>
        <p:nvGraphicFramePr>
          <p:cNvPr id="3" name="feature-chart" descr=""/>
          <p:cNvGraphicFramePr/>
          <p:nvPr/>
        </p:nvGraphicFramePr>
        <p:xfrm>
          <a:off x="548640" y="128016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4" name="ai-0"/>
          <p:cNvSpPr/>
          <p:nvPr/>
        </p:nvSpPr>
        <p:spPr>
          <a:xfrm>
            <a:off x="6035040" y="132588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5" name="Text 2"/>
          <p:cNvSpPr txBox="1"/>
          <p:nvPr/>
        </p:nvSpPr>
        <p:spPr>
          <a:xfrm>
            <a:off x="6263640" y="139903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LightGBM spike classifier</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P(new spike &gt; 180 mg/dL within 2 h); threshold tuned on validation patients for 80% sensitivity; 60-min snooze against alarm fatigue</a:t>
            </a:r>
            <a:endParaRPr lang="en-US" sz="1500" dirty="0"/>
          </a:p>
        </p:txBody>
      </p:sp>
      <p:sp>
        <p:nvSpPr>
          <p:cNvPr id="6" name="ai-1"/>
          <p:cNvSpPr/>
          <p:nvPr/>
        </p:nvSpPr>
        <p:spPr>
          <a:xfrm>
            <a:off x="6035040" y="251460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Text 4"/>
          <p:cNvSpPr txBox="1"/>
          <p:nvPr/>
        </p:nvSpPr>
        <p:spPr>
          <a:xfrm>
            <a:off x="6263640" y="258775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LightGBM glucose forecasters</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30 / 60 / 120 min ahead with split-conformal 80% prediction intervals</a:t>
            </a:r>
            <a:endParaRPr lang="en-US" sz="1500" dirty="0"/>
          </a:p>
        </p:txBody>
      </p:sp>
      <p:sp>
        <p:nvSpPr>
          <p:cNvPr id="8" name="ai-2"/>
          <p:cNvSpPr/>
          <p:nvPr/>
        </p:nvSpPr>
        <p:spPr>
          <a:xfrm>
            <a:off x="6035040" y="370332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Text 6"/>
          <p:cNvSpPr txBox="1"/>
          <p:nvPr/>
        </p:nvSpPr>
        <p:spPr>
          <a:xfrm>
            <a:off x="6263640" y="377647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Exact TreeSHAP explanations</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per-prediction contributions grouped and translated into clinician language</a:t>
            </a:r>
            <a:endParaRPr lang="en-US" sz="1500" dirty="0"/>
          </a:p>
        </p:txBody>
      </p:sp>
      <p:sp>
        <p:nvSpPr>
          <p:cNvPr id="10" name="ai-3"/>
          <p:cNvSpPr/>
          <p:nvPr/>
        </p:nvSpPr>
        <p:spPr>
          <a:xfrm>
            <a:off x="6035040" y="4892040"/>
            <a:ext cx="5577840" cy="1051560"/>
          </a:xfrm>
          <a:prstGeom prst="roundRect">
            <a:avLst>
              <a:gd name="adj" fmla="val 1043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1" name="Text 8"/>
          <p:cNvSpPr txBox="1"/>
          <p:nvPr/>
        </p:nvSpPr>
        <p:spPr>
          <a:xfrm>
            <a:off x="6263640" y="4965192"/>
            <a:ext cx="5212080" cy="9144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Fair comparisons</a:t>
            </a:r>
            <a:endParaRPr lang="en-US" sz="1500" dirty="0"/>
          </a:p>
          <a:p>
            <a:pPr indent="0" marL="0">
              <a:buNone/>
            </a:pPr>
            <a:r>
              <a:rPr lang="en-US" sz="1300" dirty="0">
                <a:solidFill>
                  <a:srgbClr val="0F172A"/>
                </a:solidFill>
                <a:latin typeface="Calibri" pitchFamily="34" charset="0"/>
                <a:ea typeface="Calibri" pitchFamily="34" charset="-122"/>
                <a:cs typeface="Calibri" pitchFamily="34" charset="-120"/>
              </a:rPr>
              <a:t>patient-level splits; baselines (persistence, trend, twin-only), an ablation per data stream and a deep-learning GRU fusion model</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Results: spikes flagged early on unseen patients</a:t>
            </a:r>
            <a:endParaRPr lang="en-US" sz="3400" dirty="0"/>
          </a:p>
        </p:txBody>
      </p:sp>
      <p:sp>
        <p:nvSpPr>
          <p:cNvPr id="3" name="r1-card"/>
          <p:cNvSpPr/>
          <p:nvPr/>
        </p:nvSpPr>
        <p:spPr>
          <a:xfrm>
            <a:off x="54864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r1-value"/>
          <p:cNvSpPr txBox="1"/>
          <p:nvPr/>
        </p:nvSpPr>
        <p:spPr>
          <a:xfrm>
            <a:off x="731520" y="143560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0.957</a:t>
            </a:r>
            <a:endParaRPr lang="en-US" sz="3600" dirty="0"/>
          </a:p>
        </p:txBody>
      </p:sp>
      <p:sp>
        <p:nvSpPr>
          <p:cNvPr id="5" name="r1-label"/>
          <p:cNvSpPr txBox="1"/>
          <p:nvPr/>
        </p:nvSpPr>
        <p:spPr>
          <a:xfrm>
            <a:off x="73152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AUROC - new spike &gt; 180 mg/dL within 2 h</a:t>
            </a:r>
            <a:endParaRPr lang="en-US" sz="1200" dirty="0"/>
          </a:p>
        </p:txBody>
      </p:sp>
      <p:sp>
        <p:nvSpPr>
          <p:cNvPr id="6" name="r2-card"/>
          <p:cNvSpPr/>
          <p:nvPr/>
        </p:nvSpPr>
        <p:spPr>
          <a:xfrm>
            <a:off x="54864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r2-value"/>
          <p:cNvSpPr txBox="1"/>
          <p:nvPr/>
        </p:nvSpPr>
        <p:spPr>
          <a:xfrm>
            <a:off x="731520" y="299008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99%</a:t>
            </a:r>
            <a:endParaRPr lang="en-US" sz="3600" dirty="0"/>
          </a:p>
        </p:txBody>
      </p:sp>
      <p:sp>
        <p:nvSpPr>
          <p:cNvPr id="8" name="r2-label"/>
          <p:cNvSpPr txBox="1"/>
          <p:nvPr/>
        </p:nvSpPr>
        <p:spPr>
          <a:xfrm>
            <a:off x="73152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of 804 spike events flagged &gt;= 15 min ahead</a:t>
            </a:r>
            <a:endParaRPr lang="en-US" sz="1200" dirty="0"/>
          </a:p>
        </p:txBody>
      </p:sp>
      <p:sp>
        <p:nvSpPr>
          <p:cNvPr id="9" name="r3-card"/>
          <p:cNvSpPr/>
          <p:nvPr/>
        </p:nvSpPr>
        <p:spPr>
          <a:xfrm>
            <a:off x="333756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0" name="r3-value"/>
          <p:cNvSpPr txBox="1"/>
          <p:nvPr/>
        </p:nvSpPr>
        <p:spPr>
          <a:xfrm>
            <a:off x="3520440" y="1435608"/>
            <a:ext cx="2240280" cy="731520"/>
          </a:xfrm>
          <a:prstGeom prst="rect">
            <a:avLst/>
          </a:prstGeom>
          <a:noFill/>
          <a:ln/>
        </p:spPr>
        <p:txBody>
          <a:bodyPr wrap="square" lIns="0" tIns="0" rIns="0" bIns="0" rtlCol="0" anchor="ctr"/>
          <a:lstStyle/>
          <a:p>
            <a:pPr indent="0" marL="0">
              <a:buNone/>
            </a:pPr>
            <a:r>
              <a:rPr lang="en-US" sz="3600" b="1" dirty="0">
                <a:solidFill>
                  <a:srgbClr val="D97706"/>
                </a:solidFill>
                <a:latin typeface="Cambria" pitchFamily="34" charset="0"/>
                <a:ea typeface="Cambria" pitchFamily="34" charset="-122"/>
                <a:cs typeface="Cambria" pitchFamily="34" charset="-120"/>
              </a:rPr>
              <a:t>110 min</a:t>
            </a:r>
            <a:endParaRPr lang="en-US" sz="3600" dirty="0"/>
          </a:p>
        </p:txBody>
      </p:sp>
      <p:sp>
        <p:nvSpPr>
          <p:cNvPr id="11" name="r3-label"/>
          <p:cNvSpPr txBox="1"/>
          <p:nvPr/>
        </p:nvSpPr>
        <p:spPr>
          <a:xfrm>
            <a:off x="352044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median warning before glucose crosses 180</a:t>
            </a:r>
            <a:endParaRPr lang="en-US" sz="1200" dirty="0"/>
          </a:p>
        </p:txBody>
      </p:sp>
      <p:sp>
        <p:nvSpPr>
          <p:cNvPr id="12" name="r4-card"/>
          <p:cNvSpPr/>
          <p:nvPr/>
        </p:nvSpPr>
        <p:spPr>
          <a:xfrm>
            <a:off x="333756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r4-value"/>
          <p:cNvSpPr txBox="1"/>
          <p:nvPr/>
        </p:nvSpPr>
        <p:spPr>
          <a:xfrm>
            <a:off x="3520440" y="2990088"/>
            <a:ext cx="2240280" cy="731520"/>
          </a:xfrm>
          <a:prstGeom prst="rect">
            <a:avLst/>
          </a:prstGeom>
          <a:noFill/>
          <a:ln/>
        </p:spPr>
        <p:txBody>
          <a:bodyPr wrap="square" lIns="0" tIns="0" rIns="0" bIns="0" rtlCol="0" anchor="ctr"/>
          <a:lstStyle/>
          <a:p>
            <a:pPr indent="0" marL="0">
              <a:buNone/>
            </a:pPr>
            <a:r>
              <a:rPr lang="en-US" sz="3600" b="1" dirty="0">
                <a:solidFill>
                  <a:srgbClr val="64748B"/>
                </a:solidFill>
                <a:latin typeface="Cambria" pitchFamily="34" charset="0"/>
                <a:ea typeface="Cambria" pitchFamily="34" charset="-122"/>
                <a:cs typeface="Cambria" pitchFamily="34" charset="-120"/>
              </a:rPr>
              <a:t>2.7 / day</a:t>
            </a:r>
            <a:endParaRPr lang="en-US" sz="3600" dirty="0"/>
          </a:p>
        </p:txBody>
      </p:sp>
      <p:sp>
        <p:nvSpPr>
          <p:cNvPr id="14" name="r4-label"/>
          <p:cNvSpPr txBox="1"/>
          <p:nvPr/>
        </p:nvSpPr>
        <p:spPr>
          <a:xfrm>
            <a:off x="352044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false alerts per patient-day (2.2 real spikes / day)</a:t>
            </a:r>
            <a:endParaRPr lang="en-US" sz="1200" dirty="0"/>
          </a:p>
        </p:txBody>
      </p:sp>
      <p:graphicFrame>
        <p:nvGraphicFramePr>
          <p:cNvPr id="15" name="ablation-chart" descr=""/>
          <p:cNvGraphicFramePr/>
          <p:nvPr/>
        </p:nvGraphicFramePr>
        <p:xfrm>
          <a:off x="6172200" y="1280160"/>
          <a:ext cx="5440680" cy="310896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48640" y="4526280"/>
            <a:ext cx="110642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Synthetic Indian cohort: 30 held-out patients, 103,680 time points. Trend-rule baseline AUROC 0.706. Sensitivity 84% at specificity 91%.</a:t>
            </a:r>
            <a:endParaRPr lang="en-US" sz="1300" dirty="0"/>
          </a:p>
        </p:txBody>
      </p:sp>
      <p:sp>
        <p:nvSpPr>
          <p:cNvPr id="17" name="r-takeaway"/>
          <p:cNvSpPr/>
          <p:nvPr/>
        </p:nvSpPr>
        <p:spPr>
          <a:xfrm>
            <a:off x="548640" y="5074920"/>
            <a:ext cx="11064240" cy="1143000"/>
          </a:xfrm>
          <a:prstGeom prst="roundRect">
            <a:avLst>
              <a:gd name="adj" fmla="val 96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8" name="Text 15"/>
          <p:cNvSpPr txBox="1"/>
          <p:nvPr/>
        </p:nvSpPr>
        <p:spPr>
          <a:xfrm>
            <a:off x="777240" y="5120640"/>
            <a:ext cx="10607040" cy="105156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Takeaway: </a:t>
            </a:r>
            <a:pPr indent="0" marL="0">
              <a:buNone/>
            </a:pPr>
            <a:r>
              <a:rPr lang="en-US" sz="1500" dirty="0">
                <a:solidFill>
                  <a:srgbClr val="0F172A"/>
                </a:solidFill>
                <a:latin typeface="Calibri" pitchFamily="34" charset="0"/>
                <a:ea typeface="Calibri" pitchFamily="34" charset="-122"/>
                <a:cs typeface="Calibri" pitchFamily="34" charset="-120"/>
              </a:rPr>
              <a:t>CGM alone is good, but adding wearables, logs and the twin's simulation lifts discrimination and cuts false alarms. The twin's simulated peak is the single most important feature.</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Forecasts: about half the error of a naive guess</a:t>
            </a:r>
            <a:endParaRPr lang="en-US" sz="3400" dirty="0"/>
          </a:p>
        </p:txBody>
      </p:sp>
      <p:graphicFrame>
        <p:nvGraphicFramePr>
          <p:cNvPr id="3" name="rmse-syn" descr=""/>
          <p:cNvGraphicFramePr/>
          <p:nvPr/>
        </p:nvGraphicFramePr>
        <p:xfrm>
          <a:off x="548640" y="1280160"/>
          <a:ext cx="54406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rmse-real" descr=""/>
          <p:cNvGraphicFramePr/>
          <p:nvPr/>
        </p:nvGraphicFramePr>
        <p:xfrm>
          <a:off x="6172200" y="1280160"/>
          <a:ext cx="5440680" cy="3566160"/>
        </p:xfrm>
        <a:graphic xmlns:a="http://schemas.openxmlformats.org/drawingml/2006/main">
          <a:graphicData uri="http://schemas.openxmlformats.org/drawingml/2006/chart">
            <c:chart xmlns:c="http://schemas.openxmlformats.org/drawingml/2006/chart" r:id="rId2"/>
          </a:graphicData>
        </a:graphic>
      </p:graphicFrame>
      <p:sp>
        <p:nvSpPr>
          <p:cNvPr id="5" name="fc-0-card"/>
          <p:cNvSpPr/>
          <p:nvPr/>
        </p:nvSpPr>
        <p:spPr>
          <a:xfrm>
            <a:off x="54864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6" name="fc-0-value"/>
          <p:cNvSpPr txBox="1"/>
          <p:nvPr/>
        </p:nvSpPr>
        <p:spPr>
          <a:xfrm>
            <a:off x="731520" y="504748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-48%</a:t>
            </a:r>
            <a:endParaRPr lang="en-US" sz="3600" dirty="0"/>
          </a:p>
        </p:txBody>
      </p:sp>
      <p:sp>
        <p:nvSpPr>
          <p:cNvPr id="7" name="fc-0-label"/>
          <p:cNvSpPr txBox="1"/>
          <p:nvPr/>
        </p:nvSpPr>
        <p:spPr>
          <a:xfrm>
            <a:off x="73152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1-h forecast error vs no-change (synthetic)</a:t>
            </a:r>
            <a:endParaRPr lang="en-US" sz="1200" dirty="0"/>
          </a:p>
        </p:txBody>
      </p:sp>
      <p:sp>
        <p:nvSpPr>
          <p:cNvPr id="8" name="fc-1-card"/>
          <p:cNvSpPr/>
          <p:nvPr/>
        </p:nvSpPr>
        <p:spPr>
          <a:xfrm>
            <a:off x="333756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fc-1-value"/>
          <p:cNvSpPr txBox="1"/>
          <p:nvPr/>
        </p:nvSpPr>
        <p:spPr>
          <a:xfrm>
            <a:off x="3520440" y="5047488"/>
            <a:ext cx="224028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96.7%</a:t>
            </a:r>
            <a:endParaRPr lang="en-US" sz="3600" dirty="0"/>
          </a:p>
        </p:txBody>
      </p:sp>
      <p:sp>
        <p:nvSpPr>
          <p:cNvPr id="10" name="fc-1-label"/>
          <p:cNvSpPr txBox="1"/>
          <p:nvPr/>
        </p:nvSpPr>
        <p:spPr>
          <a:xfrm>
            <a:off x="352044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Clarke zone A at 60 min (synthetic)</a:t>
            </a:r>
            <a:endParaRPr lang="en-US" sz="1200" dirty="0"/>
          </a:p>
        </p:txBody>
      </p:sp>
      <p:sp>
        <p:nvSpPr>
          <p:cNvPr id="11" name="fc-2-card"/>
          <p:cNvSpPr/>
          <p:nvPr/>
        </p:nvSpPr>
        <p:spPr>
          <a:xfrm>
            <a:off x="617220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2" name="fc-2-value"/>
          <p:cNvSpPr txBox="1"/>
          <p:nvPr/>
        </p:nvSpPr>
        <p:spPr>
          <a:xfrm>
            <a:off x="6355080" y="50474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-25%</a:t>
            </a:r>
            <a:endParaRPr lang="en-US" sz="3600" dirty="0"/>
          </a:p>
        </p:txBody>
      </p:sp>
      <p:sp>
        <p:nvSpPr>
          <p:cNvPr id="13" name="fc-2-label"/>
          <p:cNvSpPr txBox="1"/>
          <p:nvPr/>
        </p:nvSpPr>
        <p:spPr>
          <a:xfrm>
            <a:off x="635508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1-h forecast error vs no-change (real patients)</a:t>
            </a:r>
            <a:endParaRPr lang="en-US" sz="1200" dirty="0"/>
          </a:p>
        </p:txBody>
      </p:sp>
      <p:sp>
        <p:nvSpPr>
          <p:cNvPr id="14" name="fc-3-card"/>
          <p:cNvSpPr/>
          <p:nvPr/>
        </p:nvSpPr>
        <p:spPr>
          <a:xfrm>
            <a:off x="9006840" y="49377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5" name="fc-3-value"/>
          <p:cNvSpPr txBox="1"/>
          <p:nvPr/>
        </p:nvSpPr>
        <p:spPr>
          <a:xfrm>
            <a:off x="9189720" y="50474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81%</a:t>
            </a:r>
            <a:endParaRPr lang="en-US" sz="3600" dirty="0"/>
          </a:p>
        </p:txBody>
      </p:sp>
      <p:sp>
        <p:nvSpPr>
          <p:cNvPr id="16" name="fc-3-label"/>
          <p:cNvSpPr txBox="1"/>
          <p:nvPr/>
        </p:nvSpPr>
        <p:spPr>
          <a:xfrm>
            <a:off x="9189720" y="57607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real coverage of the 80% interval (60 min)</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Real-world check: 100 people with T2D</a:t>
            </a:r>
            <a:endParaRPr lang="en-US" sz="3400" dirty="0"/>
          </a:p>
        </p:txBody>
      </p:sp>
      <p:sp>
        <p:nvSpPr>
          <p:cNvPr id="3" name="rw1-card"/>
          <p:cNvSpPr/>
          <p:nvPr/>
        </p:nvSpPr>
        <p:spPr>
          <a:xfrm>
            <a:off x="54864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rw1-value"/>
          <p:cNvSpPr txBox="1"/>
          <p:nvPr/>
        </p:nvSpPr>
        <p:spPr>
          <a:xfrm>
            <a:off x="731520" y="143560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0.878</a:t>
            </a:r>
            <a:endParaRPr lang="en-US" sz="3600" dirty="0"/>
          </a:p>
        </p:txBody>
      </p:sp>
      <p:sp>
        <p:nvSpPr>
          <p:cNvPr id="5" name="rw1-label"/>
          <p:cNvSpPr txBox="1"/>
          <p:nvPr/>
        </p:nvSpPr>
        <p:spPr>
          <a:xfrm>
            <a:off x="73152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AUROC, 5-fold CV grouped by person</a:t>
            </a:r>
            <a:endParaRPr lang="en-US" sz="1200" dirty="0"/>
          </a:p>
        </p:txBody>
      </p:sp>
      <p:sp>
        <p:nvSpPr>
          <p:cNvPr id="6" name="rw2-card"/>
          <p:cNvSpPr/>
          <p:nvPr/>
        </p:nvSpPr>
        <p:spPr>
          <a:xfrm>
            <a:off x="3337560" y="132588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rw2-value"/>
          <p:cNvSpPr txBox="1"/>
          <p:nvPr/>
        </p:nvSpPr>
        <p:spPr>
          <a:xfrm>
            <a:off x="3520440" y="143560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22.2</a:t>
            </a:r>
            <a:endParaRPr lang="en-US" sz="3600" dirty="0"/>
          </a:p>
        </p:txBody>
      </p:sp>
      <p:sp>
        <p:nvSpPr>
          <p:cNvPr id="8" name="rw2-label"/>
          <p:cNvSpPr txBox="1"/>
          <p:nvPr/>
        </p:nvSpPr>
        <p:spPr>
          <a:xfrm>
            <a:off x="3520440" y="214884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mg/dL 1-h RMSE (no-change: 29.4)</a:t>
            </a:r>
            <a:endParaRPr lang="en-US" sz="1200" dirty="0"/>
          </a:p>
        </p:txBody>
      </p:sp>
      <p:sp>
        <p:nvSpPr>
          <p:cNvPr id="9" name="rw3-card"/>
          <p:cNvSpPr/>
          <p:nvPr/>
        </p:nvSpPr>
        <p:spPr>
          <a:xfrm>
            <a:off x="54864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0" name="rw3-value"/>
          <p:cNvSpPr txBox="1"/>
          <p:nvPr/>
        </p:nvSpPr>
        <p:spPr>
          <a:xfrm>
            <a:off x="731520" y="29900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99%</a:t>
            </a:r>
            <a:endParaRPr lang="en-US" sz="3600" dirty="0"/>
          </a:p>
        </p:txBody>
      </p:sp>
      <p:sp>
        <p:nvSpPr>
          <p:cNvPr id="11" name="rw3-label"/>
          <p:cNvSpPr txBox="1"/>
          <p:nvPr/>
        </p:nvSpPr>
        <p:spPr>
          <a:xfrm>
            <a:off x="73152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of 1823 real spike events flagged &gt;= 15 min ahead</a:t>
            </a:r>
            <a:endParaRPr lang="en-US" sz="1200" dirty="0"/>
          </a:p>
        </p:txBody>
      </p:sp>
      <p:sp>
        <p:nvSpPr>
          <p:cNvPr id="12" name="rw4-card"/>
          <p:cNvSpPr/>
          <p:nvPr/>
        </p:nvSpPr>
        <p:spPr>
          <a:xfrm>
            <a:off x="3337560" y="2880360"/>
            <a:ext cx="2606040" cy="1417320"/>
          </a:xfrm>
          <a:prstGeom prst="roundRect">
            <a:avLst>
              <a:gd name="adj" fmla="val 7742"/>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rw4-value"/>
          <p:cNvSpPr txBox="1"/>
          <p:nvPr/>
        </p:nvSpPr>
        <p:spPr>
          <a:xfrm>
            <a:off x="3520440" y="2990088"/>
            <a:ext cx="224028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83.9%</a:t>
            </a:r>
            <a:endParaRPr lang="en-US" sz="3600" dirty="0"/>
          </a:p>
        </p:txBody>
      </p:sp>
      <p:sp>
        <p:nvSpPr>
          <p:cNvPr id="14" name="rw4-label"/>
          <p:cNvSpPr txBox="1"/>
          <p:nvPr/>
        </p:nvSpPr>
        <p:spPr>
          <a:xfrm>
            <a:off x="3520440" y="3703320"/>
            <a:ext cx="224028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Clarke zone A at 60 min</a:t>
            </a:r>
            <a:endParaRPr lang="en-US" sz="1200" dirty="0"/>
          </a:p>
        </p:txBody>
      </p:sp>
      <p:graphicFrame>
        <p:nvGraphicFramePr>
          <p:cNvPr id="15" name="real-ablation" descr=""/>
          <p:cNvGraphicFramePr/>
          <p:nvPr/>
        </p:nvGraphicFramePr>
        <p:xfrm>
          <a:off x="6172200" y="1280160"/>
          <a:ext cx="5440680" cy="3108960"/>
        </p:xfrm>
        <a:graphic xmlns:a="http://schemas.openxmlformats.org/drawingml/2006/main">
          <a:graphicData uri="http://schemas.openxmlformats.org/drawingml/2006/chart">
            <c:chart xmlns:c="http://schemas.openxmlformats.org/drawingml/2006/chart" r:id="rId1"/>
          </a:graphicData>
        </a:graphic>
      </p:graphicFrame>
      <p:sp>
        <p:nvSpPr>
          <p:cNvPr id="16" name="rw-honest"/>
          <p:cNvSpPr/>
          <p:nvPr/>
        </p:nvSpPr>
        <p:spPr>
          <a:xfrm>
            <a:off x="548640" y="4526280"/>
            <a:ext cx="11064240" cy="1691640"/>
          </a:xfrm>
          <a:prstGeom prst="roundRect">
            <a:avLst>
              <a:gd name="adj" fmla="val 6486"/>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7" name="Text 14"/>
          <p:cNvSpPr txBox="1"/>
          <p:nvPr/>
        </p:nvSpPr>
        <p:spPr>
          <a:xfrm>
            <a:off x="777240" y="4572000"/>
            <a:ext cx="10607040" cy="1600200"/>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What the real data tells us (honestly): </a:t>
            </a:r>
            <a:pPr indent="0" marL="0">
              <a:buNone/>
            </a:pPr>
            <a:r>
              <a:rPr lang="en-US" sz="1400" dirty="0">
                <a:solidFill>
                  <a:srgbClr val="0F172A"/>
                </a:solidFill>
                <a:latin typeface="Calibri" pitchFamily="34" charset="0"/>
                <a:ea typeface="Calibri" pitchFamily="34" charset="-122"/>
                <a:cs typeface="Calibri" pitchFamily="34" charset="-120"/>
              </a:rPr>
              <a:t>the same pipeline transfers to real, noisy, hospital CGM and beats rule-based and no-change baselines by a wide margin. This dataset has no wearables and free-text diet logs, so EHR and twin features add little beyond CGM here - the fusion gains we see on synthetic data still need prospective validation with Indian patients wearing CGM + smartwatch.</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Explainability: every alert comes with its reasons</a:t>
            </a:r>
            <a:endParaRPr lang="en-US" sz="3400" dirty="0"/>
          </a:p>
        </p:txBody>
      </p:sp>
      <p:graphicFrame>
        <p:nvGraphicFramePr>
          <p:cNvPr id="3" name="shap-streams" descr=""/>
          <p:cNvGraphicFramePr/>
          <p:nvPr/>
        </p:nvGraphicFramePr>
        <p:xfrm>
          <a:off x="548640" y="128016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709160"/>
            <a:ext cx="5303520" cy="8229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The twin's simulation carries most of the signal, followed by wearables and CGM history - the fusion is what the model actually uses.</a:t>
            </a:r>
            <a:endParaRPr lang="en-US" sz="1400" dirty="0"/>
          </a:p>
        </p:txBody>
      </p:sp>
      <p:sp>
        <p:nvSpPr>
          <p:cNvPr id="5" name="alert-example"/>
          <p:cNvSpPr/>
          <p:nvPr/>
        </p:nvSpPr>
        <p:spPr>
          <a:xfrm>
            <a:off x="6172200" y="1325880"/>
            <a:ext cx="5440680" cy="4846320"/>
          </a:xfrm>
          <a:prstGeom prst="roundRect">
            <a:avLst>
              <a:gd name="adj" fmla="val 2264"/>
            </a:avLst>
          </a:prstGeom>
          <a:solidFill>
            <a:srgbClr val="FFF7ED"/>
          </a:solidFill>
          <a:ln w="12700">
            <a:solidFill>
              <a:srgbClr val="FFF7ED"/>
            </a:solidFill>
            <a:prstDash val="solid"/>
          </a:ln>
          <a:effectLst>
            <a:outerShdw sx="100000" sy="100000" kx="0" ky="0" algn="bl" rotWithShape="0" blurRad="76200" dist="19050" dir="5400000">
              <a:srgbClr val="94A3B8">
                <a:alpha val="25000"/>
              </a:srgbClr>
            </a:outerShdw>
          </a:effectLst>
        </p:spPr>
      </p:sp>
      <p:sp>
        <p:nvSpPr>
          <p:cNvPr id="6" name="icon-bg-warn"/>
          <p:cNvSpPr/>
          <p:nvPr/>
        </p:nvSpPr>
        <p:spPr>
          <a:xfrm>
            <a:off x="6400800" y="1554480"/>
            <a:ext cx="566928" cy="566928"/>
          </a:xfrm>
          <a:prstGeom prst="ellipse">
            <a:avLst/>
          </a:prstGeom>
          <a:solidFill>
            <a:srgbClr val="FDE7C7"/>
          </a:solidFill>
          <a:ln w="12700">
            <a:solidFill>
              <a:srgbClr val="FDE7C7"/>
            </a:solidFill>
            <a:prstDash val="solid"/>
          </a:ln>
        </p:spPr>
      </p:sp>
      <p:pic>
        <p:nvPicPr>
          <p:cNvPr id="7" name="icon-warn" descr="preencoded.png">    </p:cNvPr>
          <p:cNvPicPr>
            <a:picLocks noChangeAspect="1"/>
          </p:cNvPicPr>
          <p:nvPr/>
        </p:nvPicPr>
        <p:blipFill>
          <a:blip r:embed="rId2"/>
          <a:stretch>
            <a:fillRect/>
          </a:stretch>
        </p:blipFill>
        <p:spPr>
          <a:xfrm>
            <a:off x="6525524" y="1679204"/>
            <a:ext cx="317480" cy="317480"/>
          </a:xfrm>
          <a:prstGeom prst="rect">
            <a:avLst/>
          </a:prstGeom>
        </p:spPr>
      </p:pic>
      <p:sp>
        <p:nvSpPr>
          <p:cNvPr id="8" name="Text 4"/>
          <p:cNvSpPr txBox="1"/>
          <p:nvPr/>
        </p:nvSpPr>
        <p:spPr>
          <a:xfrm>
            <a:off x="7132320" y="1572768"/>
            <a:ext cx="42976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Example alert · GT-0001 · Sat 05 Sep, 13:55</a:t>
            </a:r>
            <a:endParaRPr lang="en-US" sz="1800" dirty="0"/>
          </a:p>
        </p:txBody>
      </p:sp>
      <p:sp>
        <p:nvSpPr>
          <p:cNvPr id="9" name="Text 5"/>
          <p:cNvSpPr txBox="1"/>
          <p:nvPr/>
        </p:nvSpPr>
        <p:spPr>
          <a:xfrm>
            <a:off x="6400800" y="2286000"/>
            <a:ext cx="5029200" cy="45720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Glucose 119 mg/dL · spike risk 99% · forecast in 2 h 212 mg/dL</a:t>
            </a:r>
            <a:endParaRPr lang="en-US" sz="1400" dirty="0"/>
          </a:p>
        </p:txBody>
      </p:sp>
      <p:sp>
        <p:nvSpPr>
          <p:cNvPr id="10" name="Text 6"/>
          <p:cNvSpPr/>
          <p:nvPr/>
        </p:nvSpPr>
        <p:spPr>
          <a:xfrm>
            <a:off x="6400800" y="2880360"/>
            <a:ext cx="502920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twin simulates a peak of 221 mg/dL  (raises risk)</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115 g carbs in the last 2 h  (raises risk)</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twin learned low insulin sensitivity (x0.89)  (raises risk)</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425 min since waking (usual meal times)  (raises risk)</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The doctor's view: a ward of digital twins</a:t>
            </a:r>
            <a:endParaRPr lang="en-US" sz="3400" dirty="0"/>
          </a:p>
        </p:txBody>
      </p:sp>
      <p:pic>
        <p:nvPicPr>
          <p:cNvPr id="3" name="screen-0" descr="C:\Users\Nakul Grover\OneDrive\Desktop\GymBro_IIITDelhi\docs\figures\screen_ward.png">    </p:cNvPr>
          <p:cNvPicPr>
            <a:picLocks noChangeAspect="1"/>
          </p:cNvPicPr>
          <p:nvPr/>
        </p:nvPicPr>
        <p:blipFill>
          <a:blip r:embed="rId1"/>
          <a:stretch>
            <a:fillRect/>
          </a:stretch>
        </p:blipFill>
        <p:spPr>
          <a:xfrm>
            <a:off x="548640" y="1463040"/>
            <a:ext cx="5440680" cy="3136284"/>
          </a:xfrm>
          <a:prstGeom prst="rect">
            <a:avLst/>
          </a:prstGeom>
          <a:effectLst>
            <a:outerShdw sx="100000" sy="100000" kx="0" ky="0" algn="bl" rotWithShape="0" blurRad="76200" dist="19050" dir="5400000">
              <a:srgbClr val="94A3B8">
                <a:alpha val="25000"/>
              </a:srgbClr>
            </a:outerShdw>
          </a:effectLst>
        </p:spPr>
      </p:pic>
      <p:sp>
        <p:nvSpPr>
          <p:cNvPr id="4" name="Text 1"/>
          <p:cNvSpPr txBox="1"/>
          <p:nvPr/>
        </p:nvSpPr>
        <p:spPr>
          <a:xfrm>
            <a:off x="548640" y="4782204"/>
            <a:ext cx="5440680" cy="41148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Ward overview: every patient ranked by 2-h spike risk</a:t>
            </a:r>
            <a:endParaRPr lang="en-US" sz="1400" dirty="0"/>
          </a:p>
        </p:txBody>
      </p:sp>
      <p:pic>
        <p:nvPicPr>
          <p:cNvPr id="5" name="screen-1" descr="C:\Users\Nakul Grover\OneDrive\Desktop\GymBro_IIITDelhi\docs\figures\screen_patient.png">    </p:cNvPr>
          <p:cNvPicPr>
            <a:picLocks noChangeAspect="1"/>
          </p:cNvPicPr>
          <p:nvPr/>
        </p:nvPicPr>
        <p:blipFill>
          <a:blip r:embed="rId2"/>
          <a:stretch>
            <a:fillRect/>
          </a:stretch>
        </p:blipFill>
        <p:spPr>
          <a:xfrm>
            <a:off x="6172200" y="1463040"/>
            <a:ext cx="5440680" cy="3136284"/>
          </a:xfrm>
          <a:prstGeom prst="rect">
            <a:avLst/>
          </a:prstGeom>
          <a:effectLst>
            <a:outerShdw sx="100000" sy="100000" kx="0" ky="0" algn="bl" rotWithShape="0" blurRad="76200" dist="19050" dir="5400000">
              <a:srgbClr val="94A3B8">
                <a:alpha val="25000"/>
              </a:srgbClr>
            </a:outerShdw>
          </a:effectLst>
        </p:spPr>
      </p:pic>
      <p:sp>
        <p:nvSpPr>
          <p:cNvPr id="6" name="Text 2"/>
          <p:cNvSpPr txBox="1"/>
          <p:nvPr/>
        </p:nvSpPr>
        <p:spPr>
          <a:xfrm>
            <a:off x="6172200" y="4782204"/>
            <a:ext cx="5440680" cy="41148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Patient twin: CGM, forecast band, alert reasons, wearables, EHR</a:t>
            </a:r>
            <a:endParaRPr lang="en-US" sz="1400" dirty="0"/>
          </a:p>
        </p:txBody>
      </p:sp>
      <p:sp>
        <p:nvSpPr>
          <p:cNvPr id="7" name="Text 3"/>
          <p:cNvSpPr txBox="1"/>
          <p:nvPr/>
        </p:nvSpPr>
        <p:spPr>
          <a:xfrm>
            <a:off x="548640" y="5760720"/>
            <a:ext cx="11064240" cy="411480"/>
          </a:xfrm>
          <a:prstGeom prst="rect">
            <a:avLst/>
          </a:prstGeom>
          <a:noFill/>
          <a:ln/>
        </p:spPr>
        <p:txBody>
          <a:bodyPr wrap="square" lIns="0" tIns="0" rIns="0" bIns="0" rtlCol="0" anchor="ctr"/>
          <a:lstStyle/>
          <a:p>
            <a:pPr algn="ctr" indent="0" marL="0">
              <a:buNone/>
            </a:pPr>
            <a:r>
              <a:rPr lang="en-US" sz="1400" dirty="0">
                <a:solidFill>
                  <a:srgbClr val="0F172A"/>
                </a:solidFill>
                <a:latin typeface="Calibri" pitchFamily="34" charset="0"/>
                <a:ea typeface="Calibri" pitchFamily="34" charset="-122"/>
                <a:cs typeface="Calibri" pitchFamily="34" charset="-120"/>
              </a:rPr>
              <a:t>Also: what-if simulator, model-performance page, live replay mode and a FastAPI REST API (/patients, /state, /twin, /what-if).</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What-if: test the plan on the twin before the patient eats</a:t>
            </a:r>
            <a:endParaRPr lang="en-US" sz="3400" dirty="0"/>
          </a:p>
        </p:txBody>
      </p:sp>
      <p:pic>
        <p:nvPicPr>
          <p:cNvPr id="3" name="Image 0" descr="C:\Users\Nakul Grover\OneDrive\Desktop\GymBro_IIITDelhi\docs\figures\whatif_example.png">    </p:cNvPr>
          <p:cNvPicPr>
            <a:picLocks noChangeAspect="1"/>
          </p:cNvPicPr>
          <p:nvPr/>
        </p:nvPicPr>
        <p:blipFill>
          <a:blip r:embed="rId1"/>
          <a:stretch>
            <a:fillRect/>
          </a:stretch>
        </p:blipFill>
        <p:spPr>
          <a:xfrm>
            <a:off x="548640" y="1653988"/>
            <a:ext cx="6766560" cy="3184264"/>
          </a:xfrm>
          <a:prstGeom prst="rect">
            <a:avLst/>
          </a:prstGeom>
        </p:spPr>
      </p:pic>
      <p:graphicFrame>
        <p:nvGraphicFramePr>
          <p:cNvPr id="15" name="whatif-table"/>
          <p:cNvGraphicFramePr>
            <a:graphicFrameLocks noGrp="1"/>
          </p:cNvGraphicFramePr>
          <p:nvPr>
            <p:extLst>
              <p:ext uri="{D42A27DB-BD31-4B8C-83A1-F6EECF244321}">
                <p14:modId xmlns:p14="http://schemas.microsoft.com/office/powerpoint/2010/main" val="1579011935"/>
              </p:ext>
            </p:extLst>
          </p:nvPr>
        </p:nvGraphicFramePr>
        <p:xfrm>
          <a:off x="7543800" y="1325880"/>
          <a:ext cx="4069080" cy="914400"/>
        </p:xfrm>
        <a:graphic>
          <a:graphicData uri="http://schemas.openxmlformats.org/drawingml/2006/table">
            <a:tbl>
              <a:tblPr/>
              <a:tblGrid>
                <a:gridCol w="2331720"/>
                <a:gridCol w="914400"/>
                <a:gridCol w="8229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Peak</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vs usual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solidFill>
                      <a:srgbClr val="0F766E"/>
                    </a:solidFill>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Rice + dal + sabzi (usual lunch)</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206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+ 15-min walk after eating</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192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Half portion</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164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Swap to millet roti + dal + salad</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161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Usual lunch after a 4.5-h night</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210 mg/dL</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D7E3E1"/>
                      </a:solidFill>
                      <a:prstDash val="solid"/>
                      <a:round/>
                      <a:headEnd type="none" w="med" len="med"/>
                      <a:tailEnd type="none" w="med" len="med"/>
                    </a:lnL>
                    <a:lnR w="6350" cap="flat" cmpd="sng" algn="ctr">
                      <a:solidFill>
                        <a:srgbClr val="D7E3E1"/>
                      </a:solidFill>
                      <a:prstDash val="solid"/>
                      <a:round/>
                      <a:headEnd type="none" w="med" len="med"/>
                      <a:tailEnd type="none" w="med" len="med"/>
                    </a:lnR>
                    <a:lnT w="6350" cap="flat" cmpd="sng" algn="ctr">
                      <a:solidFill>
                        <a:srgbClr val="D7E3E1"/>
                      </a:solidFill>
                      <a:prstDash val="solid"/>
                      <a:round/>
                      <a:headEnd type="none" w="med" len="med"/>
                      <a:tailEnd type="none" w="med" len="med"/>
                    </a:lnT>
                    <a:lnB w="6350" cap="flat" cmpd="sng" algn="ctr">
                      <a:solidFill>
                        <a:srgbClr val="D7E3E1"/>
                      </a:solidFill>
                      <a:prstDash val="solid"/>
                      <a:round/>
                      <a:headEnd type="none" w="med" len="med"/>
                      <a:tailEnd type="none" w="med" len="med"/>
                    </a:lnB>
                  </a:tcPr>
                </a:tc>
              </a:tr>
            </a:tbl>
          </a:graphicData>
        </a:graphic>
      </p:graphicFrame>
      <p:sp>
        <p:nvSpPr>
          <p:cNvPr id="5" name="Text 1"/>
          <p:cNvSpPr txBox="1"/>
          <p:nvPr/>
        </p:nvSpPr>
        <p:spPr>
          <a:xfrm>
            <a:off x="7543800" y="4206240"/>
            <a:ext cx="4069080" cy="1097280"/>
          </a:xfrm>
          <a:prstGeom prst="rect">
            <a:avLst/>
          </a:prstGeom>
          <a:noFill/>
          <a:ln/>
        </p:spPr>
        <p:txBody>
          <a:bodyPr wrap="square" lIns="0" tIns="0" rIns="0" bIns="0" rtlCol="0" anchor="ctr"/>
          <a:lstStyle/>
          <a:p>
            <a:pPr indent="0" marL="0">
              <a:buNone/>
            </a:pPr>
            <a:r>
              <a:rPr lang="en-US" sz="1300" i="1" dirty="0">
                <a:solidFill>
                  <a:srgbClr val="0F766E"/>
                </a:solidFill>
                <a:latin typeface="Calibri" pitchFamily="34" charset="0"/>
                <a:ea typeface="Calibri" pitchFamily="34" charset="-122"/>
                <a:cs typeface="Calibri" pitchFamily="34" charset="-120"/>
              </a:rPr>
              <a:t>Simulated with the patient's own calibrated twin - so the advice is personal: a walk helps some patients more than a swap, and vice versa.</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Choosing the alert setting: sensitive vs quiet</a:t>
            </a:r>
            <a:endParaRPr lang="en-US" sz="3400" dirty="0"/>
          </a:p>
        </p:txBody>
      </p:sp>
      <p:pic>
        <p:nvPicPr>
          <p:cNvPr id="3" name="Image 0" descr="C:\Users\Nakul Grover\OneDrive\Desktop\GymBro_IIITDelhi\docs\figures\alert_tradeoff.png">    </p:cNvPr>
          <p:cNvPicPr>
            <a:picLocks noChangeAspect="1"/>
          </p:cNvPicPr>
          <p:nvPr/>
        </p:nvPicPr>
        <p:blipFill>
          <a:blip r:embed="rId1"/>
          <a:stretch>
            <a:fillRect/>
          </a:stretch>
        </p:blipFill>
        <p:spPr>
          <a:xfrm>
            <a:off x="548640" y="1500188"/>
            <a:ext cx="6035040" cy="3583305"/>
          </a:xfrm>
          <a:prstGeom prst="rect">
            <a:avLst/>
          </a:prstGeom>
        </p:spPr>
      </p:pic>
      <p:sp>
        <p:nvSpPr>
          <p:cNvPr id="4" name="mode-0"/>
          <p:cNvSpPr/>
          <p:nvPr/>
        </p:nvSpPr>
        <p:spPr>
          <a:xfrm>
            <a:off x="6903720" y="1325880"/>
            <a:ext cx="4709160" cy="1828800"/>
          </a:xfrm>
          <a:prstGeom prst="roundRect">
            <a:avLst>
              <a:gd name="adj" fmla="val 6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5" name="Text 2"/>
          <p:cNvSpPr txBox="1"/>
          <p:nvPr/>
        </p:nvSpPr>
        <p:spPr>
          <a:xfrm>
            <a:off x="7132320" y="1435608"/>
            <a:ext cx="4297680" cy="164592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Sensitive (default)</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99% of spikes flagged</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median 110 min warning</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2.7 false alerts / day</a:t>
            </a:r>
            <a:endParaRPr lang="en-US" sz="1500" dirty="0"/>
          </a:p>
        </p:txBody>
      </p:sp>
      <p:sp>
        <p:nvSpPr>
          <p:cNvPr id="6" name="mode-1"/>
          <p:cNvSpPr/>
          <p:nvPr/>
        </p:nvSpPr>
        <p:spPr>
          <a:xfrm>
            <a:off x="6903720" y="3383280"/>
            <a:ext cx="4709160" cy="1828800"/>
          </a:xfrm>
          <a:prstGeom prst="roundRect">
            <a:avLst>
              <a:gd name="adj" fmla="val 6000"/>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Text 4"/>
          <p:cNvSpPr txBox="1"/>
          <p:nvPr/>
        </p:nvSpPr>
        <p:spPr>
          <a:xfrm>
            <a:off x="7132320" y="3493008"/>
            <a:ext cx="4297680" cy="1645920"/>
          </a:xfrm>
          <a:prstGeom prst="rect">
            <a:avLst/>
          </a:prstGeom>
          <a:noFill/>
          <a:ln/>
        </p:spPr>
        <p:txBody>
          <a:bodyPr wrap="square" lIns="0" tIns="0" rIns="0" bIns="0" rtlCol="0" anchor="ctr"/>
          <a:lstStyle/>
          <a:p>
            <a:pPr indent="0" marL="0">
              <a:buNone/>
            </a:pPr>
            <a:r>
              <a:rPr lang="en-US" sz="1800" b="1" dirty="0">
                <a:solidFill>
                  <a:srgbClr val="D97706"/>
                </a:solidFill>
                <a:latin typeface="Calibri" pitchFamily="34" charset="0"/>
                <a:ea typeface="Calibri" pitchFamily="34" charset="-122"/>
                <a:cs typeface="Calibri" pitchFamily="34" charset="-120"/>
              </a:rPr>
              <a:t>Quiet</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85% of spikes flagged</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median 70 min warning</a:t>
            </a:r>
            <a:endParaRPr lang="en-US" sz="1500" dirty="0"/>
          </a:p>
          <a:p>
            <a:pPr indent="0" marL="0">
              <a:buNone/>
            </a:pPr>
            <a:r>
              <a:rPr lang="en-US" sz="1500" dirty="0">
                <a:solidFill>
                  <a:srgbClr val="0F172A"/>
                </a:solidFill>
                <a:latin typeface="Calibri" pitchFamily="34" charset="0"/>
                <a:ea typeface="Calibri" pitchFamily="34" charset="-122"/>
                <a:cs typeface="Calibri" pitchFamily="34" charset="-120"/>
              </a:rPr>
              <a:t>1.0 false alerts / day</a:t>
            </a:r>
            <a:endParaRPr lang="en-US" sz="1500" dirty="0"/>
          </a:p>
        </p:txBody>
      </p:sp>
      <p:sp>
        <p:nvSpPr>
          <p:cNvPr id="8" name="Text 5"/>
          <p:cNvSpPr txBox="1"/>
          <p:nvPr/>
        </p:nvSpPr>
        <p:spPr>
          <a:xfrm>
            <a:off x="548640" y="5440680"/>
            <a:ext cx="1106424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Synthetic cohort; repeat notifications snoozed for 60 min. Care teams can pick the operating point that fits their capacity.</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Privacy, safety and honest limitations</a:t>
            </a:r>
            <a:endParaRPr lang="en-US" sz="3400" dirty="0"/>
          </a:p>
        </p:txBody>
      </p:sp>
      <p:sp>
        <p:nvSpPr>
          <p:cNvPr id="3" name="resp-0"/>
          <p:cNvSpPr/>
          <p:nvPr/>
        </p:nvSpPr>
        <p:spPr>
          <a:xfrm>
            <a:off x="548640" y="1325880"/>
            <a:ext cx="3520440" cy="3611880"/>
          </a:xfrm>
          <a:prstGeom prst="roundRect">
            <a:avLst>
              <a:gd name="adj" fmla="val 3117"/>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4" name="icon-bg-lock"/>
          <p:cNvSpPr/>
          <p:nvPr/>
        </p:nvSpPr>
        <p:spPr>
          <a:xfrm>
            <a:off x="777240" y="1554480"/>
            <a:ext cx="566928" cy="566928"/>
          </a:xfrm>
          <a:prstGeom prst="ellipse">
            <a:avLst/>
          </a:prstGeom>
          <a:solidFill>
            <a:srgbClr val="CCEDE8"/>
          </a:solidFill>
          <a:ln w="12700">
            <a:solidFill>
              <a:srgbClr val="CCEDE8"/>
            </a:solidFill>
            <a:prstDash val="solid"/>
          </a:ln>
        </p:spPr>
      </p:sp>
      <p:pic>
        <p:nvPicPr>
          <p:cNvPr id="5" name="icon-lock" descr="preencoded.png">    </p:cNvPr>
          <p:cNvPicPr>
            <a:picLocks noChangeAspect="1"/>
          </p:cNvPicPr>
          <p:nvPr/>
        </p:nvPicPr>
        <p:blipFill>
          <a:blip r:embed="rId1"/>
          <a:stretch>
            <a:fillRect/>
          </a:stretch>
        </p:blipFill>
        <p:spPr>
          <a:xfrm>
            <a:off x="901964" y="1679204"/>
            <a:ext cx="317480" cy="317480"/>
          </a:xfrm>
          <a:prstGeom prst="rect">
            <a:avLst/>
          </a:prstGeom>
        </p:spPr>
      </p:pic>
      <p:sp>
        <p:nvSpPr>
          <p:cNvPr id="6" name="Text 3"/>
          <p:cNvSpPr txBox="1"/>
          <p:nvPr/>
        </p:nvSpPr>
        <p:spPr>
          <a:xfrm>
            <a:off x="1508760" y="1572768"/>
            <a:ext cx="24688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Privacy by design</a:t>
            </a:r>
            <a:endParaRPr lang="en-US" sz="1800" dirty="0"/>
          </a:p>
        </p:txBody>
      </p:sp>
      <p:sp>
        <p:nvSpPr>
          <p:cNvPr id="7" name="Text 4"/>
          <p:cNvSpPr/>
          <p:nvPr/>
        </p:nvSpPr>
        <p:spPr>
          <a:xfrm>
            <a:off x="777240" y="237744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Only synthetic or published anonymised data (sandbox rules)</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No identifiers in features; FHIR bundles tagged synthetic</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DPDP Act 2023 principles: purpose limitation, data minimisation</a:t>
            </a:r>
            <a:endParaRPr lang="en-US" sz="1400" dirty="0"/>
          </a:p>
        </p:txBody>
      </p:sp>
      <p:sp>
        <p:nvSpPr>
          <p:cNvPr id="8" name="resp-1"/>
          <p:cNvSpPr/>
          <p:nvPr/>
        </p:nvSpPr>
        <p:spPr>
          <a:xfrm>
            <a:off x="4297680" y="1325880"/>
            <a:ext cx="3520440" cy="3611880"/>
          </a:xfrm>
          <a:prstGeom prst="roundRect">
            <a:avLst>
              <a:gd name="adj" fmla="val 3117"/>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9" name="icon-bg-shield"/>
          <p:cNvSpPr/>
          <p:nvPr/>
        </p:nvSpPr>
        <p:spPr>
          <a:xfrm>
            <a:off x="4526280" y="1554480"/>
            <a:ext cx="566928" cy="566928"/>
          </a:xfrm>
          <a:prstGeom prst="ellipse">
            <a:avLst/>
          </a:prstGeom>
          <a:solidFill>
            <a:srgbClr val="CCEDE8"/>
          </a:solidFill>
          <a:ln w="12700">
            <a:solidFill>
              <a:srgbClr val="CCEDE8"/>
            </a:solidFill>
            <a:prstDash val="solid"/>
          </a:ln>
        </p:spPr>
      </p:sp>
      <p:pic>
        <p:nvPicPr>
          <p:cNvPr id="10" name="icon-shield" descr="preencoded.png">    </p:cNvPr>
          <p:cNvPicPr>
            <a:picLocks noChangeAspect="1"/>
          </p:cNvPicPr>
          <p:nvPr/>
        </p:nvPicPr>
        <p:blipFill>
          <a:blip r:embed="rId2"/>
          <a:stretch>
            <a:fillRect/>
          </a:stretch>
        </p:blipFill>
        <p:spPr>
          <a:xfrm>
            <a:off x="4651004" y="1679204"/>
            <a:ext cx="317480" cy="317480"/>
          </a:xfrm>
          <a:prstGeom prst="rect">
            <a:avLst/>
          </a:prstGeom>
        </p:spPr>
      </p:pic>
      <p:sp>
        <p:nvSpPr>
          <p:cNvPr id="11" name="Text 7"/>
          <p:cNvSpPr txBox="1"/>
          <p:nvPr/>
        </p:nvSpPr>
        <p:spPr>
          <a:xfrm>
            <a:off x="5257800" y="1572768"/>
            <a:ext cx="24688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Clinical safety</a:t>
            </a:r>
            <a:endParaRPr lang="en-US" sz="1800" dirty="0"/>
          </a:p>
        </p:txBody>
      </p:sp>
      <p:sp>
        <p:nvSpPr>
          <p:cNvPr id="12" name="Text 8"/>
          <p:cNvSpPr/>
          <p:nvPr/>
        </p:nvSpPr>
        <p:spPr>
          <a:xfrm>
            <a:off x="4526280" y="237744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Decision support for a care team, never automated dosing</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Calibrated 80% intervals shown with every forecast</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Alerts carry reasons so clinicians can disagree</a:t>
            </a:r>
            <a:endParaRPr lang="en-US" sz="1400" dirty="0"/>
          </a:p>
        </p:txBody>
      </p:sp>
      <p:sp>
        <p:nvSpPr>
          <p:cNvPr id="13" name="resp-2"/>
          <p:cNvSpPr/>
          <p:nvPr/>
        </p:nvSpPr>
        <p:spPr>
          <a:xfrm>
            <a:off x="8046720" y="1325880"/>
            <a:ext cx="3520440" cy="3611880"/>
          </a:xfrm>
          <a:prstGeom prst="roundRect">
            <a:avLst>
              <a:gd name="adj" fmla="val 3117"/>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4" name="icon-bg-warn"/>
          <p:cNvSpPr/>
          <p:nvPr/>
        </p:nvSpPr>
        <p:spPr>
          <a:xfrm>
            <a:off x="8275320" y="1554480"/>
            <a:ext cx="566928" cy="566928"/>
          </a:xfrm>
          <a:prstGeom prst="ellipse">
            <a:avLst/>
          </a:prstGeom>
          <a:solidFill>
            <a:srgbClr val="CCEDE8"/>
          </a:solidFill>
          <a:ln w="12700">
            <a:solidFill>
              <a:srgbClr val="CCEDE8"/>
            </a:solidFill>
            <a:prstDash val="solid"/>
          </a:ln>
        </p:spPr>
      </p:sp>
      <p:pic>
        <p:nvPicPr>
          <p:cNvPr id="15" name="icon-warn" descr="preencoded.png">    </p:cNvPr>
          <p:cNvPicPr>
            <a:picLocks noChangeAspect="1"/>
          </p:cNvPicPr>
          <p:nvPr/>
        </p:nvPicPr>
        <p:blipFill>
          <a:blip r:embed="rId3"/>
          <a:stretch>
            <a:fillRect/>
          </a:stretch>
        </p:blipFill>
        <p:spPr>
          <a:xfrm>
            <a:off x="8400044" y="1679204"/>
            <a:ext cx="317480" cy="317480"/>
          </a:xfrm>
          <a:prstGeom prst="rect">
            <a:avLst/>
          </a:prstGeom>
        </p:spPr>
      </p:pic>
      <p:sp>
        <p:nvSpPr>
          <p:cNvPr id="16" name="Text 11"/>
          <p:cNvSpPr txBox="1"/>
          <p:nvPr/>
        </p:nvSpPr>
        <p:spPr>
          <a:xfrm>
            <a:off x="9006840" y="1572768"/>
            <a:ext cx="2468880" cy="548640"/>
          </a:xfrm>
          <a:prstGeom prst="rect">
            <a:avLst/>
          </a:prstGeom>
          <a:noFill/>
          <a:ln/>
        </p:spPr>
        <p:txBody>
          <a:bodyPr wrap="square" lIns="0" tIns="0" rIns="0" bIns="0" rtlCol="0" anchor="ctr"/>
          <a:lstStyle/>
          <a:p>
            <a:pPr indent="0" marL="0">
              <a:buNone/>
            </a:pPr>
            <a:r>
              <a:rPr lang="en-US" sz="1800" b="1" dirty="0">
                <a:solidFill>
                  <a:srgbClr val="0F172A"/>
                </a:solidFill>
                <a:latin typeface="Cambria" pitchFamily="34" charset="0"/>
                <a:ea typeface="Cambria" pitchFamily="34" charset="-122"/>
                <a:cs typeface="Cambria" pitchFamily="34" charset="-120"/>
              </a:rPr>
              <a:t>Limitations</a:t>
            </a:r>
            <a:endParaRPr lang="en-US" sz="1800" dirty="0"/>
          </a:p>
        </p:txBody>
      </p:sp>
      <p:sp>
        <p:nvSpPr>
          <p:cNvPr id="17" name="Text 12"/>
          <p:cNvSpPr/>
          <p:nvPr/>
        </p:nvSpPr>
        <p:spPr>
          <a:xfrm>
            <a:off x="8275320" y="237744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Wearable-glucose effects in the synthetic cohort come from literature effect sizes</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Real-data track lacks wearables; carbs estimated from free text</a:t>
            </a:r>
            <a:endParaRPr lang="en-US" sz="1400" dirty="0"/>
          </a:p>
          <a:p>
            <a:pPr marL="342900" indent="-3429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Needs prospective validation in Indian clinics before any clinical use</a:t>
            </a:r>
            <a:endParaRPr lang="en-US" sz="1400" dirty="0"/>
          </a:p>
        </p:txBody>
      </p:sp>
      <p:sp>
        <p:nvSpPr>
          <p:cNvPr id="18" name="resp-banner"/>
          <p:cNvSpPr/>
          <p:nvPr/>
        </p:nvSpPr>
        <p:spPr>
          <a:xfrm>
            <a:off x="548640" y="5166360"/>
            <a:ext cx="11064240" cy="1005840"/>
          </a:xfrm>
          <a:prstGeom prst="roundRect">
            <a:avLst>
              <a:gd name="adj" fmla="val 10909"/>
            </a:avLst>
          </a:prstGeom>
          <a:solidFill>
            <a:srgbClr val="FFF7ED"/>
          </a:solidFill>
          <a:ln w="12700">
            <a:solidFill>
              <a:srgbClr val="FFF7ED"/>
            </a:solidFill>
            <a:prstDash val="solid"/>
          </a:ln>
          <a:effectLst>
            <a:outerShdw sx="100000" sy="100000" kx="0" ky="0" algn="bl" rotWithShape="0" blurRad="76200" dist="19050" dir="5400000">
              <a:srgbClr val="94A3B8">
                <a:alpha val="25000"/>
              </a:srgbClr>
            </a:outerShdw>
          </a:effectLst>
        </p:spPr>
      </p:sp>
      <p:sp>
        <p:nvSpPr>
          <p:cNvPr id="19" name="Text 14"/>
          <p:cNvSpPr txBox="1"/>
          <p:nvPr/>
        </p:nvSpPr>
        <p:spPr>
          <a:xfrm>
            <a:off x="777240" y="5212080"/>
            <a:ext cx="10607040" cy="91440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0 identifiable records used. </a:t>
            </a:r>
            <a:pPr indent="0" marL="0">
              <a:buNone/>
            </a:pPr>
            <a:r>
              <a:rPr lang="en-US" sz="1500" dirty="0">
                <a:solidFill>
                  <a:srgbClr val="0F172A"/>
                </a:solidFill>
                <a:latin typeface="Calibri" pitchFamily="34" charset="0"/>
                <a:ea typeface="Calibri" pitchFamily="34" charset="-122"/>
                <a:cs typeface="Calibri" pitchFamily="34" charset="-120"/>
              </a:rPr>
              <a:t>200 synthetic patients + 100 published anonymised patients (CC BY 4.0). ThaliTwin is a research prototype, not a medical device.</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rgbClr val="0F172A"/>
                </a:solidFill>
                <a:latin typeface="Cambria" pitchFamily="34" charset="0"/>
                <a:ea typeface="Cambria" pitchFamily="34" charset="-122"/>
                <a:cs typeface="Cambria" pitchFamily="34" charset="-120"/>
              </a:rPr>
              <a:t>From prototype to pilot</a:t>
            </a:r>
            <a:endParaRPr lang="en-US" sz="3400" dirty="0"/>
          </a:p>
        </p:txBody>
      </p:sp>
      <p:sp>
        <p:nvSpPr>
          <p:cNvPr id="3" name="road-dot-0"/>
          <p:cNvSpPr/>
          <p:nvPr/>
        </p:nvSpPr>
        <p:spPr>
          <a:xfrm>
            <a:off x="1508760" y="1508760"/>
            <a:ext cx="731520" cy="731520"/>
          </a:xfrm>
          <a:prstGeom prst="ellipse">
            <a:avLst/>
          </a:prstGeom>
          <a:solidFill>
            <a:srgbClr val="D97706"/>
          </a:solidFill>
          <a:ln w="12700">
            <a:solidFill>
              <a:srgbClr val="D97706"/>
            </a:solidFill>
            <a:prstDash val="solid"/>
          </a:ln>
        </p:spPr>
      </p:sp>
      <p:pic>
        <p:nvPicPr>
          <p:cNvPr id="4" name="road-icon-0" descr="preencoded.png">    </p:cNvPr>
          <p:cNvPicPr>
            <a:picLocks noChangeAspect="1"/>
          </p:cNvPicPr>
          <p:nvPr/>
        </p:nvPicPr>
        <p:blipFill>
          <a:blip r:embed="rId1"/>
          <a:stretch>
            <a:fillRect/>
          </a:stretch>
        </p:blipFill>
        <p:spPr>
          <a:xfrm>
            <a:off x="1673352" y="1673352"/>
            <a:ext cx="402336" cy="402336"/>
          </a:xfrm>
          <a:prstGeom prst="rect">
            <a:avLst/>
          </a:prstGeom>
        </p:spPr>
      </p:pic>
      <p:sp>
        <p:nvSpPr>
          <p:cNvPr id="5" name="road-line-0"/>
          <p:cNvSpPr/>
          <p:nvPr/>
        </p:nvSpPr>
        <p:spPr>
          <a:xfrm>
            <a:off x="2331720" y="1874520"/>
            <a:ext cx="2651760" cy="0"/>
          </a:xfrm>
          <a:prstGeom prst="line">
            <a:avLst/>
          </a:prstGeom>
          <a:noFill/>
          <a:ln w="25400">
            <a:solidFill>
              <a:srgbClr val="D7E3E1"/>
            </a:solidFill>
            <a:prstDash val="dash"/>
          </a:ln>
        </p:spPr>
      </p:sp>
      <p:sp>
        <p:nvSpPr>
          <p:cNvPr id="6" name="road-card-0"/>
          <p:cNvSpPr/>
          <p:nvPr/>
        </p:nvSpPr>
        <p:spPr>
          <a:xfrm>
            <a:off x="548640"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7" name="Text 4"/>
          <p:cNvSpPr txBox="1"/>
          <p:nvPr/>
        </p:nvSpPr>
        <p:spPr>
          <a:xfrm>
            <a:off x="731520"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Pilot</a:t>
            </a:r>
            <a:endParaRPr lang="en-US" sz="2000" dirty="0"/>
          </a:p>
        </p:txBody>
      </p:sp>
      <p:sp>
        <p:nvSpPr>
          <p:cNvPr id="8" name="Text 5"/>
          <p:cNvSpPr txBox="1"/>
          <p:nvPr/>
        </p:nvSpPr>
        <p:spPr>
          <a:xfrm>
            <a:off x="731520"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3-month IEC-approved pilot with CGM + smartwatch users at an Indian diabetes clinic</a:t>
            </a:r>
            <a:endParaRPr lang="en-US" sz="1400" dirty="0"/>
          </a:p>
        </p:txBody>
      </p:sp>
      <p:sp>
        <p:nvSpPr>
          <p:cNvPr id="9" name="road-dot-1"/>
          <p:cNvSpPr/>
          <p:nvPr/>
        </p:nvSpPr>
        <p:spPr>
          <a:xfrm>
            <a:off x="4325112" y="1508760"/>
            <a:ext cx="731520" cy="731520"/>
          </a:xfrm>
          <a:prstGeom prst="ellipse">
            <a:avLst/>
          </a:prstGeom>
          <a:solidFill>
            <a:srgbClr val="0F766E"/>
          </a:solidFill>
          <a:ln w="12700">
            <a:solidFill>
              <a:srgbClr val="0F766E"/>
            </a:solidFill>
            <a:prstDash val="solid"/>
          </a:ln>
        </p:spPr>
      </p:sp>
      <p:pic>
        <p:nvPicPr>
          <p:cNvPr id="10" name="road-icon-1" descr="preencoded.png">    </p:cNvPr>
          <p:cNvPicPr>
            <a:picLocks noChangeAspect="1"/>
          </p:cNvPicPr>
          <p:nvPr/>
        </p:nvPicPr>
        <p:blipFill>
          <a:blip r:embed="rId2"/>
          <a:stretch>
            <a:fillRect/>
          </a:stretch>
        </p:blipFill>
        <p:spPr>
          <a:xfrm>
            <a:off x="4489704" y="1673352"/>
            <a:ext cx="402336" cy="402336"/>
          </a:xfrm>
          <a:prstGeom prst="rect">
            <a:avLst/>
          </a:prstGeom>
        </p:spPr>
      </p:pic>
      <p:sp>
        <p:nvSpPr>
          <p:cNvPr id="11" name="road-line-1"/>
          <p:cNvSpPr/>
          <p:nvPr/>
        </p:nvSpPr>
        <p:spPr>
          <a:xfrm>
            <a:off x="5148072" y="1874520"/>
            <a:ext cx="2651760" cy="0"/>
          </a:xfrm>
          <a:prstGeom prst="line">
            <a:avLst/>
          </a:prstGeom>
          <a:noFill/>
          <a:ln w="25400">
            <a:solidFill>
              <a:srgbClr val="D7E3E1"/>
            </a:solidFill>
            <a:prstDash val="dash"/>
          </a:ln>
        </p:spPr>
      </p:sp>
      <p:sp>
        <p:nvSpPr>
          <p:cNvPr id="12" name="road-card-1"/>
          <p:cNvSpPr/>
          <p:nvPr/>
        </p:nvSpPr>
        <p:spPr>
          <a:xfrm>
            <a:off x="3364992"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3" name="Text 9"/>
          <p:cNvSpPr txBox="1"/>
          <p:nvPr/>
        </p:nvSpPr>
        <p:spPr>
          <a:xfrm>
            <a:off x="3547872"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Integrate</a:t>
            </a:r>
            <a:endParaRPr lang="en-US" sz="2000" dirty="0"/>
          </a:p>
        </p:txBody>
      </p:sp>
      <p:sp>
        <p:nvSpPr>
          <p:cNvPr id="14" name="Text 10"/>
          <p:cNvSpPr txBox="1"/>
          <p:nvPr/>
        </p:nvSpPr>
        <p:spPr>
          <a:xfrm>
            <a:off x="3547872"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ABDM / FHIR connectors, Libre &amp; Health Connect ingestion, WhatsApp alerts for care teams</a:t>
            </a:r>
            <a:endParaRPr lang="en-US" sz="1400" dirty="0"/>
          </a:p>
        </p:txBody>
      </p:sp>
      <p:sp>
        <p:nvSpPr>
          <p:cNvPr id="15" name="road-dot-2"/>
          <p:cNvSpPr/>
          <p:nvPr/>
        </p:nvSpPr>
        <p:spPr>
          <a:xfrm>
            <a:off x="7141464" y="1508760"/>
            <a:ext cx="731520" cy="731520"/>
          </a:xfrm>
          <a:prstGeom prst="ellipse">
            <a:avLst/>
          </a:prstGeom>
          <a:solidFill>
            <a:srgbClr val="0F766E"/>
          </a:solidFill>
          <a:ln w="12700">
            <a:solidFill>
              <a:srgbClr val="0F766E"/>
            </a:solidFill>
            <a:prstDash val="solid"/>
          </a:ln>
        </p:spPr>
      </p:sp>
      <p:pic>
        <p:nvPicPr>
          <p:cNvPr id="16" name="road-icon-2" descr="preencoded.png">    </p:cNvPr>
          <p:cNvPicPr>
            <a:picLocks noChangeAspect="1"/>
          </p:cNvPicPr>
          <p:nvPr/>
        </p:nvPicPr>
        <p:blipFill>
          <a:blip r:embed="rId3"/>
          <a:stretch>
            <a:fillRect/>
          </a:stretch>
        </p:blipFill>
        <p:spPr>
          <a:xfrm>
            <a:off x="7306056" y="1673352"/>
            <a:ext cx="402336" cy="402336"/>
          </a:xfrm>
          <a:prstGeom prst="rect">
            <a:avLst/>
          </a:prstGeom>
        </p:spPr>
      </p:pic>
      <p:sp>
        <p:nvSpPr>
          <p:cNvPr id="17" name="road-line-2"/>
          <p:cNvSpPr/>
          <p:nvPr/>
        </p:nvSpPr>
        <p:spPr>
          <a:xfrm>
            <a:off x="7964424" y="1874520"/>
            <a:ext cx="2651760" cy="0"/>
          </a:xfrm>
          <a:prstGeom prst="line">
            <a:avLst/>
          </a:prstGeom>
          <a:noFill/>
          <a:ln w="25400">
            <a:solidFill>
              <a:srgbClr val="D7E3E1"/>
            </a:solidFill>
            <a:prstDash val="dash"/>
          </a:ln>
        </p:spPr>
      </p:sp>
      <p:sp>
        <p:nvSpPr>
          <p:cNvPr id="18" name="road-card-2"/>
          <p:cNvSpPr/>
          <p:nvPr/>
        </p:nvSpPr>
        <p:spPr>
          <a:xfrm>
            <a:off x="6181344"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19" name="Text 14"/>
          <p:cNvSpPr txBox="1"/>
          <p:nvPr/>
        </p:nvSpPr>
        <p:spPr>
          <a:xfrm>
            <a:off x="6364224"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Scale</a:t>
            </a:r>
            <a:endParaRPr lang="en-US" sz="2000" dirty="0"/>
          </a:p>
        </p:txBody>
      </p:sp>
      <p:sp>
        <p:nvSpPr>
          <p:cNvPr id="20" name="Text 15"/>
          <p:cNvSpPr txBox="1"/>
          <p:nvPr/>
        </p:nvSpPr>
        <p:spPr>
          <a:xfrm>
            <a:off x="6364224"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Federated learning across hospitals so data never leaves the site</a:t>
            </a:r>
            <a:endParaRPr lang="en-US" sz="1400" dirty="0"/>
          </a:p>
        </p:txBody>
      </p:sp>
      <p:sp>
        <p:nvSpPr>
          <p:cNvPr id="21" name="road-dot-3"/>
          <p:cNvSpPr/>
          <p:nvPr/>
        </p:nvSpPr>
        <p:spPr>
          <a:xfrm>
            <a:off x="9957816" y="1508760"/>
            <a:ext cx="731520" cy="731520"/>
          </a:xfrm>
          <a:prstGeom prst="ellipse">
            <a:avLst/>
          </a:prstGeom>
          <a:solidFill>
            <a:srgbClr val="0F766E"/>
          </a:solidFill>
          <a:ln w="12700">
            <a:solidFill>
              <a:srgbClr val="0F766E"/>
            </a:solidFill>
            <a:prstDash val="solid"/>
          </a:ln>
        </p:spPr>
      </p:sp>
      <p:pic>
        <p:nvPicPr>
          <p:cNvPr id="22" name="road-icon-3" descr="preencoded.png">    </p:cNvPr>
          <p:cNvPicPr>
            <a:picLocks noChangeAspect="1"/>
          </p:cNvPicPr>
          <p:nvPr/>
        </p:nvPicPr>
        <p:blipFill>
          <a:blip r:embed="rId4"/>
          <a:stretch>
            <a:fillRect/>
          </a:stretch>
        </p:blipFill>
        <p:spPr>
          <a:xfrm>
            <a:off x="10122408" y="1673352"/>
            <a:ext cx="402336" cy="402336"/>
          </a:xfrm>
          <a:prstGeom prst="rect">
            <a:avLst/>
          </a:prstGeom>
        </p:spPr>
      </p:pic>
      <p:sp>
        <p:nvSpPr>
          <p:cNvPr id="23" name="road-card-3"/>
          <p:cNvSpPr/>
          <p:nvPr/>
        </p:nvSpPr>
        <p:spPr>
          <a:xfrm>
            <a:off x="8997696" y="2514600"/>
            <a:ext cx="2606040" cy="2377440"/>
          </a:xfrm>
          <a:prstGeom prst="roundRect">
            <a:avLst>
              <a:gd name="adj" fmla="val 4615"/>
            </a:avLst>
          </a:prstGeom>
          <a:solidFill>
            <a:srgbClr val="F0F7F6"/>
          </a:solidFill>
          <a:ln w="12700">
            <a:solidFill>
              <a:srgbClr val="F0F7F6"/>
            </a:solidFill>
            <a:prstDash val="solid"/>
          </a:ln>
          <a:effectLst>
            <a:outerShdw sx="100000" sy="100000" kx="0" ky="0" algn="bl" rotWithShape="0" blurRad="76200" dist="19050" dir="5400000">
              <a:srgbClr val="94A3B8">
                <a:alpha val="25000"/>
              </a:srgbClr>
            </a:outerShdw>
          </a:effectLst>
        </p:spPr>
      </p:sp>
      <p:sp>
        <p:nvSpPr>
          <p:cNvPr id="24" name="Text 18"/>
          <p:cNvSpPr txBox="1"/>
          <p:nvPr/>
        </p:nvSpPr>
        <p:spPr>
          <a:xfrm>
            <a:off x="9180576" y="2651760"/>
            <a:ext cx="2240280" cy="457200"/>
          </a:xfrm>
          <a:prstGeom prst="rect">
            <a:avLst/>
          </a:prstGeom>
          <a:noFill/>
          <a:ln/>
        </p:spPr>
        <p:txBody>
          <a:bodyPr wrap="square" lIns="0" tIns="0" rIns="0" bIns="0" rtlCol="0" anchor="ctr"/>
          <a:lstStyle/>
          <a:p>
            <a:pPr indent="0" marL="0">
              <a:buNone/>
            </a:pPr>
            <a:r>
              <a:rPr lang="en-US" sz="2000" b="1" dirty="0">
                <a:solidFill>
                  <a:srgbClr val="0F172A"/>
                </a:solidFill>
                <a:latin typeface="Cambria" pitchFamily="34" charset="0"/>
                <a:ea typeface="Cambria" pitchFamily="34" charset="-122"/>
                <a:cs typeface="Cambria" pitchFamily="34" charset="-120"/>
              </a:rPr>
              <a:t>Extend</a:t>
            </a:r>
            <a:endParaRPr lang="en-US" sz="2000" dirty="0"/>
          </a:p>
        </p:txBody>
      </p:sp>
      <p:sp>
        <p:nvSpPr>
          <p:cNvPr id="25" name="Text 19"/>
          <p:cNvSpPr txBox="1"/>
          <p:nvPr/>
        </p:nvSpPr>
        <p:spPr>
          <a:xfrm>
            <a:off x="9180576" y="3154680"/>
            <a:ext cx="2240280" cy="164592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Add hypertension and cardiovascular twins on the same engine and dashboard</a:t>
            </a:r>
            <a:endParaRPr lang="en-US" sz="1400" dirty="0"/>
          </a:p>
        </p:txBody>
      </p:sp>
      <p:sp>
        <p:nvSpPr>
          <p:cNvPr id="26" name="impact"/>
          <p:cNvSpPr/>
          <p:nvPr/>
        </p:nvSpPr>
        <p:spPr>
          <a:xfrm>
            <a:off x="548640" y="5166360"/>
            <a:ext cx="11064240" cy="1005840"/>
          </a:xfrm>
          <a:prstGeom prst="roundRect">
            <a:avLst>
              <a:gd name="adj" fmla="val 10909"/>
            </a:avLst>
          </a:prstGeom>
          <a:solidFill>
            <a:srgbClr val="FFF7ED"/>
          </a:solidFill>
          <a:ln w="12700">
            <a:solidFill>
              <a:srgbClr val="FFF7ED"/>
            </a:solidFill>
            <a:prstDash val="solid"/>
          </a:ln>
          <a:effectLst>
            <a:outerShdw sx="100000" sy="100000" kx="0" ky="0" algn="bl" rotWithShape="0" blurRad="76200" dist="19050" dir="5400000">
              <a:srgbClr val="94A3B8">
                <a:alpha val="25000"/>
              </a:srgbClr>
            </a:outerShdw>
          </a:effectLst>
        </p:spPr>
      </p:sp>
      <p:sp>
        <p:nvSpPr>
          <p:cNvPr id="27" name="Text 21"/>
          <p:cNvSpPr txBox="1"/>
          <p:nvPr/>
        </p:nvSpPr>
        <p:spPr>
          <a:xfrm>
            <a:off x="777240" y="5212080"/>
            <a:ext cx="10607040" cy="91440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Impact goal: </a:t>
            </a:r>
            <a:pPr indent="0" marL="0">
              <a:buNone/>
            </a:pPr>
            <a:r>
              <a:rPr lang="en-US" sz="1500" dirty="0">
                <a:solidFill>
                  <a:srgbClr val="0F172A"/>
                </a:solidFill>
                <a:latin typeface="Calibri" pitchFamily="34" charset="0"/>
                <a:ea typeface="Calibri" pitchFamily="34" charset="-122"/>
                <a:cs typeface="Calibri" pitchFamily="34" charset="-120"/>
              </a:rPr>
              <a:t>turn the CGM data India's patients already generate into early, explained, personal action - fewer hours above range, without more work for clinicians.</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371600"/>
          </a:xfrm>
          <a:prstGeom prst="rect">
            <a:avLst/>
          </a:prstGeom>
          <a:noFill/>
          <a:ln/>
        </p:spPr>
        <p:txBody>
          <a:bodyPr wrap="square" lIns="0" tIns="0" rIns="0" bIns="0" rtlCol="0" anchor="b"/>
          <a:lstStyle/>
          <a:p>
            <a:pPr algn="l"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0"/>
          <p:cNvSpPr/>
          <p:nvPr>
            <p:ph idx="101" type="body" hasCustomPrompt="1"/>
          </p:nvPr>
        </p:nvSpPr>
        <p:spPr>
          <a:xfrm>
            <a:off x="731520" y="3337560"/>
            <a:ext cx="6766560" cy="1280160"/>
          </a:xfrm>
          <a:prstGeom prst="rect">
            <a:avLst/>
          </a:prstGeom>
          <a:noFill/>
          <a:ln/>
        </p:spPr>
        <p:txBody>
          <a:bodyPr wrap="square" lIns="0" tIns="0" rIns="0" bIns="0" rtlCol="0" anchor="t"/>
          <a:lstStyle/>
          <a:p>
            <a:pPr indent="0" marL="0">
              <a:buNone/>
            </a:pPr>
            <a:r>
              <a:rPr lang="en-US" sz="2200" dirty="0">
                <a:solidFill>
                  <a:srgbClr val="CCEDE8"/>
                </a:solidFill>
                <a:latin typeface="Calibri" pitchFamily="34" charset="0"/>
                <a:ea typeface="Calibri" pitchFamily="34" charset="-122"/>
                <a:cs typeface="Calibri" pitchFamily="34" charset="-120"/>
              </a:rPr>
              <a:t>ThaliTwin - Team Gym Bro, IIIT Delhi</a:t>
            </a:r>
            <a:endParaRPr lang="en-US" sz="2200" dirty="0"/>
          </a:p>
        </p:txBody>
      </p:sp>
      <p:sp>
        <p:nvSpPr>
          <p:cNvPr id="4" name="links"/>
          <p:cNvSpPr txBox="1"/>
          <p:nvPr/>
        </p:nvSpPr>
        <p:spPr>
          <a:xfrm>
            <a:off x="731520" y="4754880"/>
            <a:ext cx="10515600" cy="1188720"/>
          </a:xfrm>
          <a:prstGeom prst="rect">
            <a:avLst/>
          </a:prstGeom>
          <a:noFill/>
          <a:ln/>
        </p:spPr>
        <p:txBody>
          <a:bodyPr wrap="square" lIns="0" tIns="0" rIns="0" bIns="0" rtlCol="0" anchor="ctr"/>
          <a:lstStyle/>
          <a:p>
            <a:pPr indent="0" marL="0">
              <a:buNone/>
            </a:pPr>
            <a:r>
              <a:rPr lang="en-US" sz="1500" dirty="0">
                <a:solidFill>
                  <a:srgbClr val="CCEDE8"/>
                </a:solidFill>
                <a:latin typeface="Calibri" pitchFamily="34" charset="0"/>
                <a:ea typeface="Calibri" pitchFamily="34" charset="-122"/>
                <a:cs typeface="Calibri" pitchFamily="34" charset="-120"/>
              </a:rPr>
              <a:t>Code, data card, model card and video: see the GitHub repository README</a:t>
            </a:r>
            <a:endParaRPr lang="en-US" sz="1500" dirty="0"/>
          </a:p>
          <a:p>
            <a:pPr indent="0" marL="0">
              <a:buNone/>
            </a:pPr>
            <a:r>
              <a:rPr lang="en-US" sz="1500" dirty="0">
                <a:solidFill>
                  <a:srgbClr val="CCEDE8"/>
                </a:solidFill>
                <a:latin typeface="Calibri" pitchFamily="34" charset="0"/>
                <a:ea typeface="Calibri" pitchFamily="34" charset="-122"/>
                <a:cs typeface="Calibri" pitchFamily="34" charset="-120"/>
              </a:rPr>
              <a:t>Run it:  python run_all.py  ·  streamlit run dashboard/app.py</a:t>
            </a:r>
            <a:endParaRPr lang="en-US" sz="1500" dirty="0"/>
          </a:p>
          <a:p>
            <a:pPr indent="0" marL="0">
              <a:buNone/>
            </a:pPr>
            <a:r>
              <a:rPr lang="en-US" sz="1500" dirty="0">
                <a:solidFill>
                  <a:srgbClr val="CCEDE8"/>
                </a:solidFill>
                <a:latin typeface="Calibri" pitchFamily="34" charset="0"/>
                <a:ea typeface="Calibri" pitchFamily="34" charset="-122"/>
                <a:cs typeface="Calibri" pitchFamily="34" charset="-120"/>
              </a:rPr>
              <a:t>MIT licence · ShanghaiT2DM data CC BY 4.0 (Zhao et al., Sci Data 2023)</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IIIT Delhi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ThaliTwin - Digital Twin for Type-2 Diabetes</dc:title>
  <dc:subject>Digital Twin Challenge 2026</dc:subject>
  <dc:creator>Team Gym Bro (IIIT Delhi)</dc:creator>
  <cp:lastModifiedBy>Team Gym Bro (IIIT Delhi)</cp:lastModifiedBy>
  <cp:revision>1</cp:revision>
  <dcterms:created xsi:type="dcterms:W3CDTF">2026-10-15T17:07:52Z</dcterms:created>
  <dcterms:modified xsi:type="dcterms:W3CDTF">2026-10-15T17:07:52Z</dcterms:modified>
</cp:coreProperties>
</file>